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1" r:id="rId2"/>
    <p:sldId id="257" r:id="rId3"/>
    <p:sldId id="259" r:id="rId4"/>
    <p:sldId id="272" r:id="rId5"/>
    <p:sldId id="260" r:id="rId6"/>
    <p:sldId id="261" r:id="rId7"/>
    <p:sldId id="268" r:id="rId8"/>
    <p:sldId id="267" r:id="rId9"/>
    <p:sldId id="273" r:id="rId10"/>
    <p:sldId id="262" r:id="rId11"/>
    <p:sldId id="265" r:id="rId12"/>
  </p:sldIdLst>
  <p:sldSz cx="18288000" cy="10287000"/>
  <p:notesSz cx="6858000" cy="9144000"/>
  <p:embeddedFontLst>
    <p:embeddedFont>
      <p:font typeface="Oswald" panose="00000500000000000000" pitchFamily="2" charset="0"/>
      <p:regular r:id="rId13"/>
      <p:bold r:id="rId14"/>
    </p:embeddedFont>
    <p:embeddedFont>
      <p:font typeface="Oswald Bold" panose="00000800000000000000"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67ABC297-BCAA-49D3-8A30-1667573B357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7E22757-83CC-443A-AE17-21041722A5BC}">
      <dgm:prSet custT="1"/>
      <dgm:spPr/>
      <dgm:t>
        <a:bodyPr/>
        <a:lstStyle/>
        <a:p>
          <a:pPr>
            <a:lnSpc>
              <a:spcPct val="100000"/>
            </a:lnSpc>
          </a:pPr>
          <a:r>
            <a:rPr lang="en-US" sz="2400" b="1" dirty="0"/>
            <a:t>Analyze crowdfunding campaigns’ performance.</a:t>
          </a:r>
        </a:p>
      </dgm:t>
    </dgm:pt>
    <dgm:pt modelId="{B6F86DCF-F010-493C-8D8D-E58FD00938CA}" type="parTrans" cxnId="{66A9F974-38C2-455D-87A9-8A569D660A20}">
      <dgm:prSet/>
      <dgm:spPr/>
      <dgm:t>
        <a:bodyPr/>
        <a:lstStyle/>
        <a:p>
          <a:endParaRPr lang="en-US"/>
        </a:p>
      </dgm:t>
    </dgm:pt>
    <dgm:pt modelId="{7890A083-D923-43A1-8B76-B1AC8A95B721}" type="sibTrans" cxnId="{66A9F974-38C2-455D-87A9-8A569D660A20}">
      <dgm:prSet/>
      <dgm:spPr/>
      <dgm:t>
        <a:bodyPr/>
        <a:lstStyle/>
        <a:p>
          <a:endParaRPr lang="en-US"/>
        </a:p>
      </dgm:t>
    </dgm:pt>
    <dgm:pt modelId="{7DFE354E-1EB1-4735-803F-C0162FF0549D}">
      <dgm:prSet custT="1"/>
      <dgm:spPr/>
      <dgm:t>
        <a:bodyPr/>
        <a:lstStyle/>
        <a:p>
          <a:pPr>
            <a:lnSpc>
              <a:spcPct val="100000"/>
            </a:lnSpc>
          </a:pPr>
          <a:r>
            <a:rPr lang="en-US" sz="2400" b="1" dirty="0"/>
            <a:t>Identify trends, successes, and areas of improvement</a:t>
          </a:r>
          <a:r>
            <a:rPr lang="en-US" sz="2200" dirty="0"/>
            <a:t>.</a:t>
          </a:r>
        </a:p>
      </dgm:t>
    </dgm:pt>
    <dgm:pt modelId="{68C131E6-DABA-498F-BAE7-750DF7033A82}" type="parTrans" cxnId="{D03A2473-9C51-4B4F-BA09-5838CC919A68}">
      <dgm:prSet/>
      <dgm:spPr/>
      <dgm:t>
        <a:bodyPr/>
        <a:lstStyle/>
        <a:p>
          <a:endParaRPr lang="en-US"/>
        </a:p>
      </dgm:t>
    </dgm:pt>
    <dgm:pt modelId="{1013CF8E-DE87-4DA8-A336-C199C6964DEC}" type="sibTrans" cxnId="{D03A2473-9C51-4B4F-BA09-5838CC919A68}">
      <dgm:prSet/>
      <dgm:spPr/>
      <dgm:t>
        <a:bodyPr/>
        <a:lstStyle/>
        <a:p>
          <a:endParaRPr lang="en-US"/>
        </a:p>
      </dgm:t>
    </dgm:pt>
    <dgm:pt modelId="{28B20FA0-409B-413B-8FD4-D4048B6D2D56}">
      <dgm:prSet custT="1"/>
      <dgm:spPr/>
      <dgm:t>
        <a:bodyPr/>
        <a:lstStyle/>
        <a:p>
          <a:pPr>
            <a:lnSpc>
              <a:spcPct val="100000"/>
            </a:lnSpc>
          </a:pPr>
          <a:r>
            <a:rPr lang="en-US" sz="2400" b="1" dirty="0"/>
            <a:t>Utilize multiple tools for insights: Excel, Power BI, Tableau, SQL.</a:t>
          </a:r>
        </a:p>
      </dgm:t>
    </dgm:pt>
    <dgm:pt modelId="{69FB8A64-468B-43EE-ADE4-B2A2395925C0}" type="parTrans" cxnId="{2A7100F4-90C1-4033-9729-AB815FA69B78}">
      <dgm:prSet/>
      <dgm:spPr/>
      <dgm:t>
        <a:bodyPr/>
        <a:lstStyle/>
        <a:p>
          <a:endParaRPr lang="en-US"/>
        </a:p>
      </dgm:t>
    </dgm:pt>
    <dgm:pt modelId="{E545E65E-66C0-4B50-9CCD-B5E9C1BB00C7}" type="sibTrans" cxnId="{2A7100F4-90C1-4033-9729-AB815FA69B78}">
      <dgm:prSet/>
      <dgm:spPr/>
      <dgm:t>
        <a:bodyPr/>
        <a:lstStyle/>
        <a:p>
          <a:endParaRPr lang="en-US"/>
        </a:p>
      </dgm:t>
    </dgm:pt>
    <dgm:pt modelId="{24FA6473-BE08-4817-9A11-C1D9C0FACEE5}">
      <dgm:prSet custT="1"/>
      <dgm:spPr/>
      <dgm:t>
        <a:bodyPr/>
        <a:lstStyle/>
        <a:p>
          <a:pPr>
            <a:lnSpc>
              <a:spcPct val="100000"/>
            </a:lnSpc>
          </a:pPr>
          <a:r>
            <a:rPr lang="en-US" sz="2400" b="0" dirty="0"/>
            <a:t>Visual: Simple Dashboard representing each tool.</a:t>
          </a:r>
        </a:p>
      </dgm:t>
    </dgm:pt>
    <dgm:pt modelId="{B85A8066-54E2-44F5-922B-E579F5DA7B57}" type="parTrans" cxnId="{E149D2CE-E3A6-4310-B926-50BA651A070A}">
      <dgm:prSet/>
      <dgm:spPr/>
      <dgm:t>
        <a:bodyPr/>
        <a:lstStyle/>
        <a:p>
          <a:endParaRPr lang="en-US"/>
        </a:p>
      </dgm:t>
    </dgm:pt>
    <dgm:pt modelId="{6490968A-C470-4D2A-919B-E670C830C7BF}" type="sibTrans" cxnId="{E149D2CE-E3A6-4310-B926-50BA651A070A}">
      <dgm:prSet/>
      <dgm:spPr/>
      <dgm:t>
        <a:bodyPr/>
        <a:lstStyle/>
        <a:p>
          <a:endParaRPr lang="en-US"/>
        </a:p>
      </dgm:t>
    </dgm:pt>
    <dgm:pt modelId="{CACAE504-775D-4907-A702-821A22E2A110}" type="pres">
      <dgm:prSet presAssocID="{67ABC297-BCAA-49D3-8A30-1667573B357D}" presName="root" presStyleCnt="0">
        <dgm:presLayoutVars>
          <dgm:dir/>
          <dgm:resizeHandles val="exact"/>
        </dgm:presLayoutVars>
      </dgm:prSet>
      <dgm:spPr/>
    </dgm:pt>
    <dgm:pt modelId="{0103E639-66B4-4C97-9034-64454436F4D8}" type="pres">
      <dgm:prSet presAssocID="{E7E22757-83CC-443A-AE17-21041722A5BC}" presName="compNode" presStyleCnt="0"/>
      <dgm:spPr/>
    </dgm:pt>
    <dgm:pt modelId="{FC56B83B-83F3-4D49-A364-99F93D7D2871}" type="pres">
      <dgm:prSet presAssocID="{E7E22757-83CC-443A-AE17-21041722A5BC}" presName="bgRect" presStyleLbl="bgShp" presStyleIdx="0" presStyleCnt="4"/>
      <dgm:spPr/>
    </dgm:pt>
    <dgm:pt modelId="{D9792560-A99E-46ED-8F21-9BE000F085FB}" type="pres">
      <dgm:prSet presAssocID="{E7E22757-83CC-443A-AE17-21041722A5B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0CF78955-1071-45B5-AE81-1EF94A81D1AB}" type="pres">
      <dgm:prSet presAssocID="{E7E22757-83CC-443A-AE17-21041722A5BC}" presName="spaceRect" presStyleCnt="0"/>
      <dgm:spPr/>
    </dgm:pt>
    <dgm:pt modelId="{FE0F717A-B08A-45D8-B387-AB3ABA30F5A9}" type="pres">
      <dgm:prSet presAssocID="{E7E22757-83CC-443A-AE17-21041722A5BC}" presName="parTx" presStyleLbl="revTx" presStyleIdx="0" presStyleCnt="4">
        <dgm:presLayoutVars>
          <dgm:chMax val="0"/>
          <dgm:chPref val="0"/>
        </dgm:presLayoutVars>
      </dgm:prSet>
      <dgm:spPr/>
    </dgm:pt>
    <dgm:pt modelId="{84FC7D5A-298B-417B-8AA0-8B847FDBE4AA}" type="pres">
      <dgm:prSet presAssocID="{7890A083-D923-43A1-8B76-B1AC8A95B721}" presName="sibTrans" presStyleCnt="0"/>
      <dgm:spPr/>
    </dgm:pt>
    <dgm:pt modelId="{0210170D-6DC7-49A8-974B-477C98A53131}" type="pres">
      <dgm:prSet presAssocID="{7DFE354E-1EB1-4735-803F-C0162FF0549D}" presName="compNode" presStyleCnt="0"/>
      <dgm:spPr/>
    </dgm:pt>
    <dgm:pt modelId="{AB781040-5DC9-484F-8A5F-272DE3665BFA}" type="pres">
      <dgm:prSet presAssocID="{7DFE354E-1EB1-4735-803F-C0162FF0549D}" presName="bgRect" presStyleLbl="bgShp" presStyleIdx="1" presStyleCnt="4"/>
      <dgm:spPr/>
    </dgm:pt>
    <dgm:pt modelId="{F736E28C-5183-4A99-BC42-0ACF9113911D}" type="pres">
      <dgm:prSet presAssocID="{7DFE354E-1EB1-4735-803F-C0162FF0549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51F2081E-3F55-4CA8-91D9-2D4D4EADC629}" type="pres">
      <dgm:prSet presAssocID="{7DFE354E-1EB1-4735-803F-C0162FF0549D}" presName="spaceRect" presStyleCnt="0"/>
      <dgm:spPr/>
    </dgm:pt>
    <dgm:pt modelId="{5F6CEFFA-5835-4E0D-816D-9DB1AA1A355D}" type="pres">
      <dgm:prSet presAssocID="{7DFE354E-1EB1-4735-803F-C0162FF0549D}" presName="parTx" presStyleLbl="revTx" presStyleIdx="1" presStyleCnt="4">
        <dgm:presLayoutVars>
          <dgm:chMax val="0"/>
          <dgm:chPref val="0"/>
        </dgm:presLayoutVars>
      </dgm:prSet>
      <dgm:spPr/>
    </dgm:pt>
    <dgm:pt modelId="{BA1E6EF4-10B3-42BB-80B5-98F00327AAFF}" type="pres">
      <dgm:prSet presAssocID="{1013CF8E-DE87-4DA8-A336-C199C6964DEC}" presName="sibTrans" presStyleCnt="0"/>
      <dgm:spPr/>
    </dgm:pt>
    <dgm:pt modelId="{B338C901-193E-4C48-AED5-996A3E4EC63C}" type="pres">
      <dgm:prSet presAssocID="{28B20FA0-409B-413B-8FD4-D4048B6D2D56}" presName="compNode" presStyleCnt="0"/>
      <dgm:spPr/>
    </dgm:pt>
    <dgm:pt modelId="{231E3E8F-72AE-410F-8A9C-7ED4B3150DE2}" type="pres">
      <dgm:prSet presAssocID="{28B20FA0-409B-413B-8FD4-D4048B6D2D56}" presName="bgRect" presStyleLbl="bgShp" presStyleIdx="2" presStyleCnt="4"/>
      <dgm:spPr/>
    </dgm:pt>
    <dgm:pt modelId="{606F25DF-B44F-4630-840A-19447569462B}" type="pres">
      <dgm:prSet presAssocID="{28B20FA0-409B-413B-8FD4-D4048B6D2D5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55F0F05C-255E-49A7-B4C4-E048AAE2694B}" type="pres">
      <dgm:prSet presAssocID="{28B20FA0-409B-413B-8FD4-D4048B6D2D56}" presName="spaceRect" presStyleCnt="0"/>
      <dgm:spPr/>
    </dgm:pt>
    <dgm:pt modelId="{A3037557-F85C-40B6-B70D-9EF55EAE5089}" type="pres">
      <dgm:prSet presAssocID="{28B20FA0-409B-413B-8FD4-D4048B6D2D56}" presName="parTx" presStyleLbl="revTx" presStyleIdx="2" presStyleCnt="4">
        <dgm:presLayoutVars>
          <dgm:chMax val="0"/>
          <dgm:chPref val="0"/>
        </dgm:presLayoutVars>
      </dgm:prSet>
      <dgm:spPr/>
    </dgm:pt>
    <dgm:pt modelId="{01D0359C-F8B1-4D37-BF8B-DE879FC22CFB}" type="pres">
      <dgm:prSet presAssocID="{E545E65E-66C0-4B50-9CCD-B5E9C1BB00C7}" presName="sibTrans" presStyleCnt="0"/>
      <dgm:spPr/>
    </dgm:pt>
    <dgm:pt modelId="{67BED05E-59F8-4B07-953A-E75E38848682}" type="pres">
      <dgm:prSet presAssocID="{24FA6473-BE08-4817-9A11-C1D9C0FACEE5}" presName="compNode" presStyleCnt="0"/>
      <dgm:spPr/>
    </dgm:pt>
    <dgm:pt modelId="{75EECCB2-D562-44EE-B258-B3567D78CDBB}" type="pres">
      <dgm:prSet presAssocID="{24FA6473-BE08-4817-9A11-C1D9C0FACEE5}" presName="bgRect" presStyleLbl="bgShp" presStyleIdx="3" presStyleCnt="4"/>
      <dgm:spPr/>
    </dgm:pt>
    <dgm:pt modelId="{E422A1D6-FB3C-4A91-BB97-C57C371CF58C}" type="pres">
      <dgm:prSet presAssocID="{24FA6473-BE08-4817-9A11-C1D9C0FACEE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7E72E19E-4B94-40BD-9093-EAA0F9B98D7D}" type="pres">
      <dgm:prSet presAssocID="{24FA6473-BE08-4817-9A11-C1D9C0FACEE5}" presName="spaceRect" presStyleCnt="0"/>
      <dgm:spPr/>
    </dgm:pt>
    <dgm:pt modelId="{33D5C2E0-75D3-4041-A7A1-1B2CA4CE3305}" type="pres">
      <dgm:prSet presAssocID="{24FA6473-BE08-4817-9A11-C1D9C0FACEE5}" presName="parTx" presStyleLbl="revTx" presStyleIdx="3" presStyleCnt="4">
        <dgm:presLayoutVars>
          <dgm:chMax val="0"/>
          <dgm:chPref val="0"/>
        </dgm:presLayoutVars>
      </dgm:prSet>
      <dgm:spPr/>
    </dgm:pt>
  </dgm:ptLst>
  <dgm:cxnLst>
    <dgm:cxn modelId="{A60E8505-FB65-4190-94E5-B170F382ECE0}" type="presOf" srcId="{28B20FA0-409B-413B-8FD4-D4048B6D2D56}" destId="{A3037557-F85C-40B6-B70D-9EF55EAE5089}" srcOrd="0" destOrd="0" presId="urn:microsoft.com/office/officeart/2018/2/layout/IconVerticalSolidList"/>
    <dgm:cxn modelId="{D03A2473-9C51-4B4F-BA09-5838CC919A68}" srcId="{67ABC297-BCAA-49D3-8A30-1667573B357D}" destId="{7DFE354E-1EB1-4735-803F-C0162FF0549D}" srcOrd="1" destOrd="0" parTransId="{68C131E6-DABA-498F-BAE7-750DF7033A82}" sibTransId="{1013CF8E-DE87-4DA8-A336-C199C6964DEC}"/>
    <dgm:cxn modelId="{66A9F974-38C2-455D-87A9-8A569D660A20}" srcId="{67ABC297-BCAA-49D3-8A30-1667573B357D}" destId="{E7E22757-83CC-443A-AE17-21041722A5BC}" srcOrd="0" destOrd="0" parTransId="{B6F86DCF-F010-493C-8D8D-E58FD00938CA}" sibTransId="{7890A083-D923-43A1-8B76-B1AC8A95B721}"/>
    <dgm:cxn modelId="{B6330E79-E84A-4F81-B0A2-B4D8F5896EDE}" type="presOf" srcId="{67ABC297-BCAA-49D3-8A30-1667573B357D}" destId="{CACAE504-775D-4907-A702-821A22E2A110}" srcOrd="0" destOrd="0" presId="urn:microsoft.com/office/officeart/2018/2/layout/IconVerticalSolidList"/>
    <dgm:cxn modelId="{E15D57BA-3E4F-4430-BF83-66DCC3921B39}" type="presOf" srcId="{24FA6473-BE08-4817-9A11-C1D9C0FACEE5}" destId="{33D5C2E0-75D3-4041-A7A1-1B2CA4CE3305}" srcOrd="0" destOrd="0" presId="urn:microsoft.com/office/officeart/2018/2/layout/IconVerticalSolidList"/>
    <dgm:cxn modelId="{E149D2CE-E3A6-4310-B926-50BA651A070A}" srcId="{67ABC297-BCAA-49D3-8A30-1667573B357D}" destId="{24FA6473-BE08-4817-9A11-C1D9C0FACEE5}" srcOrd="3" destOrd="0" parTransId="{B85A8066-54E2-44F5-922B-E579F5DA7B57}" sibTransId="{6490968A-C470-4D2A-919B-E670C830C7BF}"/>
    <dgm:cxn modelId="{D659A9F3-10DE-46BC-8172-52A2E22D95F4}" type="presOf" srcId="{7DFE354E-1EB1-4735-803F-C0162FF0549D}" destId="{5F6CEFFA-5835-4E0D-816D-9DB1AA1A355D}" srcOrd="0" destOrd="0" presId="urn:microsoft.com/office/officeart/2018/2/layout/IconVerticalSolidList"/>
    <dgm:cxn modelId="{2A7100F4-90C1-4033-9729-AB815FA69B78}" srcId="{67ABC297-BCAA-49D3-8A30-1667573B357D}" destId="{28B20FA0-409B-413B-8FD4-D4048B6D2D56}" srcOrd="2" destOrd="0" parTransId="{69FB8A64-468B-43EE-ADE4-B2A2395925C0}" sibTransId="{E545E65E-66C0-4B50-9CCD-B5E9C1BB00C7}"/>
    <dgm:cxn modelId="{33A1BEFD-8292-4CE8-B3F7-BE5AAE928FBB}" type="presOf" srcId="{E7E22757-83CC-443A-AE17-21041722A5BC}" destId="{FE0F717A-B08A-45D8-B387-AB3ABA30F5A9}" srcOrd="0" destOrd="0" presId="urn:microsoft.com/office/officeart/2018/2/layout/IconVerticalSolidList"/>
    <dgm:cxn modelId="{9428B692-9746-424F-BF8C-DED80F5774B6}" type="presParOf" srcId="{CACAE504-775D-4907-A702-821A22E2A110}" destId="{0103E639-66B4-4C97-9034-64454436F4D8}" srcOrd="0" destOrd="0" presId="urn:microsoft.com/office/officeart/2018/2/layout/IconVerticalSolidList"/>
    <dgm:cxn modelId="{98157408-71B4-420A-839F-D79E740903DF}" type="presParOf" srcId="{0103E639-66B4-4C97-9034-64454436F4D8}" destId="{FC56B83B-83F3-4D49-A364-99F93D7D2871}" srcOrd="0" destOrd="0" presId="urn:microsoft.com/office/officeart/2018/2/layout/IconVerticalSolidList"/>
    <dgm:cxn modelId="{74D23F28-2535-47D2-9424-E4E923A4972E}" type="presParOf" srcId="{0103E639-66B4-4C97-9034-64454436F4D8}" destId="{D9792560-A99E-46ED-8F21-9BE000F085FB}" srcOrd="1" destOrd="0" presId="urn:microsoft.com/office/officeart/2018/2/layout/IconVerticalSolidList"/>
    <dgm:cxn modelId="{CA0982C3-162F-4EB9-B2A4-44653F209188}" type="presParOf" srcId="{0103E639-66B4-4C97-9034-64454436F4D8}" destId="{0CF78955-1071-45B5-AE81-1EF94A81D1AB}" srcOrd="2" destOrd="0" presId="urn:microsoft.com/office/officeart/2018/2/layout/IconVerticalSolidList"/>
    <dgm:cxn modelId="{DDD2FC8B-2E52-47D1-B3D7-6ADFA9420535}" type="presParOf" srcId="{0103E639-66B4-4C97-9034-64454436F4D8}" destId="{FE0F717A-B08A-45D8-B387-AB3ABA30F5A9}" srcOrd="3" destOrd="0" presId="urn:microsoft.com/office/officeart/2018/2/layout/IconVerticalSolidList"/>
    <dgm:cxn modelId="{DE455121-AB43-4077-AA24-2F13B6252F51}" type="presParOf" srcId="{CACAE504-775D-4907-A702-821A22E2A110}" destId="{84FC7D5A-298B-417B-8AA0-8B847FDBE4AA}" srcOrd="1" destOrd="0" presId="urn:microsoft.com/office/officeart/2018/2/layout/IconVerticalSolidList"/>
    <dgm:cxn modelId="{9E250A56-5D0E-4F07-BDA1-BE8B06835B3E}" type="presParOf" srcId="{CACAE504-775D-4907-A702-821A22E2A110}" destId="{0210170D-6DC7-49A8-974B-477C98A53131}" srcOrd="2" destOrd="0" presId="urn:microsoft.com/office/officeart/2018/2/layout/IconVerticalSolidList"/>
    <dgm:cxn modelId="{66DFA08C-28AF-4B74-90A3-A3F5DDA7E7E1}" type="presParOf" srcId="{0210170D-6DC7-49A8-974B-477C98A53131}" destId="{AB781040-5DC9-484F-8A5F-272DE3665BFA}" srcOrd="0" destOrd="0" presId="urn:microsoft.com/office/officeart/2018/2/layout/IconVerticalSolidList"/>
    <dgm:cxn modelId="{A360C42C-2846-41CE-B076-E006A3BC883D}" type="presParOf" srcId="{0210170D-6DC7-49A8-974B-477C98A53131}" destId="{F736E28C-5183-4A99-BC42-0ACF9113911D}" srcOrd="1" destOrd="0" presId="urn:microsoft.com/office/officeart/2018/2/layout/IconVerticalSolidList"/>
    <dgm:cxn modelId="{9DC495C5-002F-42A7-9CDA-1EE70D4E5E7A}" type="presParOf" srcId="{0210170D-6DC7-49A8-974B-477C98A53131}" destId="{51F2081E-3F55-4CA8-91D9-2D4D4EADC629}" srcOrd="2" destOrd="0" presId="urn:microsoft.com/office/officeart/2018/2/layout/IconVerticalSolidList"/>
    <dgm:cxn modelId="{639D1058-4F50-4C2C-8FC5-8726022A165F}" type="presParOf" srcId="{0210170D-6DC7-49A8-974B-477C98A53131}" destId="{5F6CEFFA-5835-4E0D-816D-9DB1AA1A355D}" srcOrd="3" destOrd="0" presId="urn:microsoft.com/office/officeart/2018/2/layout/IconVerticalSolidList"/>
    <dgm:cxn modelId="{72D2C442-3219-4EF4-8E3F-B414A4169BAB}" type="presParOf" srcId="{CACAE504-775D-4907-A702-821A22E2A110}" destId="{BA1E6EF4-10B3-42BB-80B5-98F00327AAFF}" srcOrd="3" destOrd="0" presId="urn:microsoft.com/office/officeart/2018/2/layout/IconVerticalSolidList"/>
    <dgm:cxn modelId="{B89FE3DC-7396-4048-9494-9A8FA6C29A0E}" type="presParOf" srcId="{CACAE504-775D-4907-A702-821A22E2A110}" destId="{B338C901-193E-4C48-AED5-996A3E4EC63C}" srcOrd="4" destOrd="0" presId="urn:microsoft.com/office/officeart/2018/2/layout/IconVerticalSolidList"/>
    <dgm:cxn modelId="{E1D6FAF8-2F39-43BC-B972-C963CDBCFF5C}" type="presParOf" srcId="{B338C901-193E-4C48-AED5-996A3E4EC63C}" destId="{231E3E8F-72AE-410F-8A9C-7ED4B3150DE2}" srcOrd="0" destOrd="0" presId="urn:microsoft.com/office/officeart/2018/2/layout/IconVerticalSolidList"/>
    <dgm:cxn modelId="{526893AE-5BC5-4AF6-9510-1C1E828400BF}" type="presParOf" srcId="{B338C901-193E-4C48-AED5-996A3E4EC63C}" destId="{606F25DF-B44F-4630-840A-19447569462B}" srcOrd="1" destOrd="0" presId="urn:microsoft.com/office/officeart/2018/2/layout/IconVerticalSolidList"/>
    <dgm:cxn modelId="{C498AB32-A162-42CD-9FB3-BE2F50C37923}" type="presParOf" srcId="{B338C901-193E-4C48-AED5-996A3E4EC63C}" destId="{55F0F05C-255E-49A7-B4C4-E048AAE2694B}" srcOrd="2" destOrd="0" presId="urn:microsoft.com/office/officeart/2018/2/layout/IconVerticalSolidList"/>
    <dgm:cxn modelId="{10C50DA4-D0C6-404D-A762-C43F18AADE36}" type="presParOf" srcId="{B338C901-193E-4C48-AED5-996A3E4EC63C}" destId="{A3037557-F85C-40B6-B70D-9EF55EAE5089}" srcOrd="3" destOrd="0" presId="urn:microsoft.com/office/officeart/2018/2/layout/IconVerticalSolidList"/>
    <dgm:cxn modelId="{F2B4F7BF-1A08-4B46-A0B5-3CE0A721B392}" type="presParOf" srcId="{CACAE504-775D-4907-A702-821A22E2A110}" destId="{01D0359C-F8B1-4D37-BF8B-DE879FC22CFB}" srcOrd="5" destOrd="0" presId="urn:microsoft.com/office/officeart/2018/2/layout/IconVerticalSolidList"/>
    <dgm:cxn modelId="{52532D43-17AA-44C5-8C5B-A37BA42D528F}" type="presParOf" srcId="{CACAE504-775D-4907-A702-821A22E2A110}" destId="{67BED05E-59F8-4B07-953A-E75E38848682}" srcOrd="6" destOrd="0" presId="urn:microsoft.com/office/officeart/2018/2/layout/IconVerticalSolidList"/>
    <dgm:cxn modelId="{2676E7E9-CF02-4E31-A89C-25D97A408A23}" type="presParOf" srcId="{67BED05E-59F8-4B07-953A-E75E38848682}" destId="{75EECCB2-D562-44EE-B258-B3567D78CDBB}" srcOrd="0" destOrd="0" presId="urn:microsoft.com/office/officeart/2018/2/layout/IconVerticalSolidList"/>
    <dgm:cxn modelId="{5B5E6E02-6FAC-4FD8-BDC5-FC4A4C2C249E}" type="presParOf" srcId="{67BED05E-59F8-4B07-953A-E75E38848682}" destId="{E422A1D6-FB3C-4A91-BB97-C57C371CF58C}" srcOrd="1" destOrd="0" presId="urn:microsoft.com/office/officeart/2018/2/layout/IconVerticalSolidList"/>
    <dgm:cxn modelId="{A8F56AAA-1280-42B4-A828-9B6CC3DBC3F9}" type="presParOf" srcId="{67BED05E-59F8-4B07-953A-E75E38848682}" destId="{7E72E19E-4B94-40BD-9093-EAA0F9B98D7D}" srcOrd="2" destOrd="0" presId="urn:microsoft.com/office/officeart/2018/2/layout/IconVerticalSolidList"/>
    <dgm:cxn modelId="{544418DC-8765-4856-9081-D755A9D16F71}" type="presParOf" srcId="{67BED05E-59F8-4B07-953A-E75E38848682}" destId="{33D5C2E0-75D3-4041-A7A1-1B2CA4CE3305}"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6B83B-83F3-4D49-A364-99F93D7D2871}">
      <dsp:nvSpPr>
        <dsp:cNvPr id="0" name=""/>
        <dsp:cNvSpPr/>
      </dsp:nvSpPr>
      <dsp:spPr>
        <a:xfrm>
          <a:off x="0" y="2797"/>
          <a:ext cx="9753600" cy="141800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792560-A99E-46ED-8F21-9BE000F085FB}">
      <dsp:nvSpPr>
        <dsp:cNvPr id="0" name=""/>
        <dsp:cNvSpPr/>
      </dsp:nvSpPr>
      <dsp:spPr>
        <a:xfrm>
          <a:off x="428946" y="321848"/>
          <a:ext cx="779902" cy="7799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F717A-B08A-45D8-B387-AB3ABA30F5A9}">
      <dsp:nvSpPr>
        <dsp:cNvPr id="0" name=""/>
        <dsp:cNvSpPr/>
      </dsp:nvSpPr>
      <dsp:spPr>
        <a:xfrm>
          <a:off x="1637795" y="2797"/>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1" kern="1200" dirty="0"/>
            <a:t>Analyze crowdfunding campaigns’ performance.</a:t>
          </a:r>
        </a:p>
      </dsp:txBody>
      <dsp:txXfrm>
        <a:off x="1637795" y="2797"/>
        <a:ext cx="8115804" cy="1418004"/>
      </dsp:txXfrm>
    </dsp:sp>
    <dsp:sp modelId="{AB781040-5DC9-484F-8A5F-272DE3665BFA}">
      <dsp:nvSpPr>
        <dsp:cNvPr id="0" name=""/>
        <dsp:cNvSpPr/>
      </dsp:nvSpPr>
      <dsp:spPr>
        <a:xfrm>
          <a:off x="0" y="1775303"/>
          <a:ext cx="9753600" cy="141800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6E28C-5183-4A99-BC42-0ACF9113911D}">
      <dsp:nvSpPr>
        <dsp:cNvPr id="0" name=""/>
        <dsp:cNvSpPr/>
      </dsp:nvSpPr>
      <dsp:spPr>
        <a:xfrm>
          <a:off x="428946" y="2094354"/>
          <a:ext cx="779902" cy="7799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6CEFFA-5835-4E0D-816D-9DB1AA1A355D}">
      <dsp:nvSpPr>
        <dsp:cNvPr id="0" name=""/>
        <dsp:cNvSpPr/>
      </dsp:nvSpPr>
      <dsp:spPr>
        <a:xfrm>
          <a:off x="1637795" y="1775303"/>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1" kern="1200" dirty="0"/>
            <a:t>Identify trends, successes, and areas of improvement</a:t>
          </a:r>
          <a:r>
            <a:rPr lang="en-US" sz="2200" kern="1200" dirty="0"/>
            <a:t>.</a:t>
          </a:r>
        </a:p>
      </dsp:txBody>
      <dsp:txXfrm>
        <a:off x="1637795" y="1775303"/>
        <a:ext cx="8115804" cy="1418004"/>
      </dsp:txXfrm>
    </dsp:sp>
    <dsp:sp modelId="{231E3E8F-72AE-410F-8A9C-7ED4B3150DE2}">
      <dsp:nvSpPr>
        <dsp:cNvPr id="0" name=""/>
        <dsp:cNvSpPr/>
      </dsp:nvSpPr>
      <dsp:spPr>
        <a:xfrm>
          <a:off x="0" y="3547809"/>
          <a:ext cx="9753600" cy="141800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6F25DF-B44F-4630-840A-19447569462B}">
      <dsp:nvSpPr>
        <dsp:cNvPr id="0" name=""/>
        <dsp:cNvSpPr/>
      </dsp:nvSpPr>
      <dsp:spPr>
        <a:xfrm>
          <a:off x="428946" y="3866860"/>
          <a:ext cx="779902" cy="7799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037557-F85C-40B6-B70D-9EF55EAE5089}">
      <dsp:nvSpPr>
        <dsp:cNvPr id="0" name=""/>
        <dsp:cNvSpPr/>
      </dsp:nvSpPr>
      <dsp:spPr>
        <a:xfrm>
          <a:off x="1637795" y="3547809"/>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1" kern="1200" dirty="0"/>
            <a:t>Utilize multiple tools for insights: Excel, Power BI, Tableau, SQL.</a:t>
          </a:r>
        </a:p>
      </dsp:txBody>
      <dsp:txXfrm>
        <a:off x="1637795" y="3547809"/>
        <a:ext cx="8115804" cy="1418004"/>
      </dsp:txXfrm>
    </dsp:sp>
    <dsp:sp modelId="{75EECCB2-D562-44EE-B258-B3567D78CDBB}">
      <dsp:nvSpPr>
        <dsp:cNvPr id="0" name=""/>
        <dsp:cNvSpPr/>
      </dsp:nvSpPr>
      <dsp:spPr>
        <a:xfrm>
          <a:off x="0" y="5320314"/>
          <a:ext cx="9753600" cy="141800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22A1D6-FB3C-4A91-BB97-C57C371CF58C}">
      <dsp:nvSpPr>
        <dsp:cNvPr id="0" name=""/>
        <dsp:cNvSpPr/>
      </dsp:nvSpPr>
      <dsp:spPr>
        <a:xfrm>
          <a:off x="428946" y="5639365"/>
          <a:ext cx="779902" cy="7799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D5C2E0-75D3-4041-A7A1-1B2CA4CE3305}">
      <dsp:nvSpPr>
        <dsp:cNvPr id="0" name=""/>
        <dsp:cNvSpPr/>
      </dsp:nvSpPr>
      <dsp:spPr>
        <a:xfrm>
          <a:off x="1637795" y="5320314"/>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0" kern="1200" dirty="0"/>
            <a:t>Visual: Simple Dashboard representing each tool.</a:t>
          </a:r>
        </a:p>
      </dsp:txBody>
      <dsp:txXfrm>
        <a:off x="1637795" y="5320314"/>
        <a:ext cx="8115804" cy="14180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platform.tracxn.com/a/d/people/52ff7226e4b0622455c8dc0c/charlesadler" TargetMode="External"/><Relationship Id="rId5" Type="http://schemas.openxmlformats.org/officeDocument/2006/relationships/hyperlink" Target="https://platform.tracxn.com/a/d/people/52ff7228e4b0622455c8dc0e/perrychen" TargetMode="External"/><Relationship Id="rId4" Type="http://schemas.openxmlformats.org/officeDocument/2006/relationships/hyperlink" Target="https://tracxn.com/d/people/yancey-strickler/__3VtPEhymB-7RLKACkYZWTtmCwiF05hixHCK6jU55FQ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0.jpeg"/><Relationship Id="rId7" Type="http://schemas.openxmlformats.org/officeDocument/2006/relationships/diagramLayout" Target="../diagrams/layout1.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11.svg"/><Relationship Id="rId10" Type="http://schemas.microsoft.com/office/2007/relationships/diagramDrawing" Target="../diagrams/drawing1.xml"/><Relationship Id="rId4" Type="http://schemas.openxmlformats.org/officeDocument/2006/relationships/image" Target="../media/image5.png"/><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D342A68-7936-709F-4967-CB80F904DA2F}"/>
              </a:ext>
            </a:extLst>
          </p:cNvPr>
          <p:cNvSpPr txBox="1"/>
          <p:nvPr/>
        </p:nvSpPr>
        <p:spPr>
          <a:xfrm>
            <a:off x="1255012" y="121922"/>
            <a:ext cx="11851388" cy="821782"/>
          </a:xfrm>
          <a:prstGeom prst="rect">
            <a:avLst/>
          </a:prstGeom>
          <a:solidFill>
            <a:schemeClr val="accent2">
              <a:lumMod val="40000"/>
              <a:lumOff val="60000"/>
            </a:schemeClr>
          </a:solidFill>
        </p:spPr>
        <p:txBody>
          <a:bodyPr vert="horz" lIns="91440" tIns="45720" rIns="91440" bIns="45720" rtlCol="0" anchor="ctr">
            <a:normAutofit/>
          </a:bodyPr>
          <a:lstStyle/>
          <a:p>
            <a:pPr>
              <a:lnSpc>
                <a:spcPct val="90000"/>
              </a:lnSpc>
              <a:spcBef>
                <a:spcPct val="0"/>
              </a:spcBef>
              <a:spcAft>
                <a:spcPts val="600"/>
              </a:spcAft>
            </a:pPr>
            <a:r>
              <a:rPr lang="en-US" sz="4800" b="1" kern="1200" dirty="0">
                <a:solidFill>
                  <a:schemeClr val="tx1"/>
                </a:solidFill>
                <a:latin typeface="+mj-lt"/>
                <a:ea typeface="+mj-ea"/>
                <a:cs typeface="+mj-cs"/>
                <a:sym typeface="Oswald Bold"/>
              </a:rPr>
              <a:t>CROWDFUNDING KICKSTARTER PROJECT</a:t>
            </a:r>
          </a:p>
        </p:txBody>
      </p:sp>
      <p:pic>
        <p:nvPicPr>
          <p:cNvPr id="11" name="Picture 4" descr="Kickstarter Changed Crowdfunding — But Don't Call It a Disruptor">
            <a:extLst>
              <a:ext uri="{FF2B5EF4-FFF2-40B4-BE49-F238E27FC236}">
                <a16:creationId xmlns:a16="http://schemas.microsoft.com/office/drawing/2014/main" id="{57C0E6D7-7BC7-B4EF-5FAF-FB23F16637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5392400" y="121921"/>
            <a:ext cx="2819400" cy="25831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7280269-0141-4E71-C4FA-CE13EA7B6A79}"/>
              </a:ext>
            </a:extLst>
          </p:cNvPr>
          <p:cNvPicPr>
            <a:picLocks noChangeAspect="1"/>
          </p:cNvPicPr>
          <p:nvPr/>
        </p:nvPicPr>
        <p:blipFill>
          <a:blip r:embed="rId3"/>
          <a:srcRect l="14186" r="5799" b="-1"/>
          <a:stretch>
            <a:fillRect/>
          </a:stretch>
        </p:blipFill>
        <p:spPr>
          <a:xfrm>
            <a:off x="154092" y="1132115"/>
            <a:ext cx="15215545" cy="9082314"/>
          </a:xfrm>
          <a:prstGeom prst="rect">
            <a:avLst/>
          </a:prstGeom>
        </p:spPr>
      </p:pic>
      <p:sp>
        <p:nvSpPr>
          <p:cNvPr id="13" name="TextBox 12">
            <a:extLst>
              <a:ext uri="{FF2B5EF4-FFF2-40B4-BE49-F238E27FC236}">
                <a16:creationId xmlns:a16="http://schemas.microsoft.com/office/drawing/2014/main" id="{DE546F3B-CE99-9F33-533A-E6D5769FAC04}"/>
              </a:ext>
            </a:extLst>
          </p:cNvPr>
          <p:cNvSpPr txBox="1"/>
          <p:nvPr/>
        </p:nvSpPr>
        <p:spPr>
          <a:xfrm>
            <a:off x="329756" y="1866900"/>
            <a:ext cx="14376844" cy="830997"/>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7030A0"/>
                </a:solidFill>
              </a:rPr>
              <a:t> </a:t>
            </a:r>
            <a:r>
              <a:rPr lang="en-US" sz="2400" b="1" dirty="0">
                <a:solidFill>
                  <a:srgbClr val="660066"/>
                </a:solidFill>
              </a:rPr>
              <a:t>Kickstarter is a funded company based in Brooklyn (United States), founded in 2009 by </a:t>
            </a:r>
            <a:r>
              <a:rPr lang="en-US" sz="2400" b="1" dirty="0">
                <a:solidFill>
                  <a:srgbClr val="660066"/>
                </a:solidFill>
                <a:hlinkClick r:id="rId4">
                  <a:extLst>
                    <a:ext uri="{A12FA001-AC4F-418D-AE19-62706E023703}">
                      <ahyp:hlinkClr xmlns:ahyp="http://schemas.microsoft.com/office/drawing/2018/hyperlinkcolor" val="tx"/>
                    </a:ext>
                  </a:extLst>
                </a:hlinkClick>
              </a:rPr>
              <a:t>Yancey Strickler</a:t>
            </a:r>
            <a:r>
              <a:rPr lang="en-US" sz="2400" b="1" dirty="0">
                <a:solidFill>
                  <a:srgbClr val="660066"/>
                </a:solidFill>
              </a:rPr>
              <a:t>, </a:t>
            </a:r>
            <a:r>
              <a:rPr lang="en-US" sz="2400" b="1" dirty="0">
                <a:solidFill>
                  <a:srgbClr val="660066"/>
                </a:solidFill>
                <a:hlinkClick r:id="rId5">
                  <a:extLst>
                    <a:ext uri="{A12FA001-AC4F-418D-AE19-62706E023703}">
                      <ahyp:hlinkClr xmlns:ahyp="http://schemas.microsoft.com/office/drawing/2018/hyperlinkcolor" val="tx"/>
                    </a:ext>
                  </a:extLst>
                </a:hlinkClick>
              </a:rPr>
              <a:t>Perry Chen</a:t>
            </a:r>
            <a:r>
              <a:rPr lang="en-US" sz="2400" b="1" dirty="0">
                <a:solidFill>
                  <a:srgbClr val="660066"/>
                </a:solidFill>
              </a:rPr>
              <a:t> and </a:t>
            </a:r>
            <a:r>
              <a:rPr lang="en-US" sz="2400" b="1" dirty="0">
                <a:solidFill>
                  <a:srgbClr val="660066"/>
                </a:solidFill>
                <a:hlinkClick r:id="rId6">
                  <a:extLst>
                    <a:ext uri="{A12FA001-AC4F-418D-AE19-62706E023703}">
                      <ahyp:hlinkClr xmlns:ahyp="http://schemas.microsoft.com/office/drawing/2018/hyperlinkcolor" val="tx"/>
                    </a:ext>
                  </a:extLst>
                </a:hlinkClick>
              </a:rPr>
              <a:t>Charles Adler</a:t>
            </a:r>
            <a:r>
              <a:rPr lang="en-US" sz="2400" b="1" dirty="0">
                <a:solidFill>
                  <a:srgbClr val="660066"/>
                </a:solidFill>
              </a:rPr>
              <a:t>. </a:t>
            </a:r>
          </a:p>
        </p:txBody>
      </p:sp>
      <p:sp>
        <p:nvSpPr>
          <p:cNvPr id="17" name="TextBox 16">
            <a:extLst>
              <a:ext uri="{FF2B5EF4-FFF2-40B4-BE49-F238E27FC236}">
                <a16:creationId xmlns:a16="http://schemas.microsoft.com/office/drawing/2014/main" id="{EA7D126F-FF9E-E71C-1FCF-9743F5704702}"/>
              </a:ext>
            </a:extLst>
          </p:cNvPr>
          <p:cNvSpPr txBox="1"/>
          <p:nvPr/>
        </p:nvSpPr>
        <p:spPr>
          <a:xfrm>
            <a:off x="293470" y="2958879"/>
            <a:ext cx="13843000" cy="1200329"/>
          </a:xfrm>
          <a:prstGeom prst="rect">
            <a:avLst/>
          </a:prstGeom>
          <a:noFill/>
        </p:spPr>
        <p:txBody>
          <a:bodyPr wrap="square" rtlCol="0">
            <a:spAutoFit/>
          </a:bodyPr>
          <a:lstStyle/>
          <a:p>
            <a:pPr marL="342900" indent="-342900">
              <a:buFont typeface="Wingdings" panose="05000000000000000000" pitchFamily="2" charset="2"/>
              <a:buChar char="q"/>
            </a:pPr>
            <a:r>
              <a:rPr lang="en-US" sz="2400" b="1" dirty="0">
                <a:solidFill>
                  <a:srgbClr val="660066"/>
                </a:solidFill>
              </a:rPr>
              <a:t>It enables individuals and organizations to raise funds for creative projects—such as technology, art, film, games, design, and music—without relying on traditional investors or loans</a:t>
            </a:r>
            <a:r>
              <a:rPr lang="en-US" sz="2400" b="1" dirty="0">
                <a:solidFill>
                  <a:srgbClr val="7030A0"/>
                </a:solidFill>
              </a:rPr>
              <a:t>.</a:t>
            </a:r>
          </a:p>
          <a:p>
            <a:endParaRPr lang="en-IN" sz="2400" b="1" dirty="0">
              <a:solidFill>
                <a:srgbClr val="7030A0"/>
              </a:solidFill>
            </a:endParaRPr>
          </a:p>
        </p:txBody>
      </p:sp>
      <p:sp>
        <p:nvSpPr>
          <p:cNvPr id="30" name="TextBox 29">
            <a:extLst>
              <a:ext uri="{FF2B5EF4-FFF2-40B4-BE49-F238E27FC236}">
                <a16:creationId xmlns:a16="http://schemas.microsoft.com/office/drawing/2014/main" id="{87DE829B-54C5-89DD-14FB-F4B5AF1B074C}"/>
              </a:ext>
            </a:extLst>
          </p:cNvPr>
          <p:cNvSpPr txBox="1"/>
          <p:nvPr/>
        </p:nvSpPr>
        <p:spPr>
          <a:xfrm>
            <a:off x="359431" y="4126132"/>
            <a:ext cx="9698969" cy="584775"/>
          </a:xfrm>
          <a:prstGeom prst="rect">
            <a:avLst/>
          </a:prstGeom>
          <a:noFill/>
        </p:spPr>
        <p:txBody>
          <a:bodyPr wrap="square" rtlCol="0">
            <a:spAutoFit/>
          </a:bodyPr>
          <a:lstStyle/>
          <a:p>
            <a:r>
              <a:rPr lang="en-US" sz="3200" b="1" u="sng" dirty="0">
                <a:solidFill>
                  <a:schemeClr val="accent2">
                    <a:lumMod val="75000"/>
                  </a:schemeClr>
                </a:solidFill>
              </a:rPr>
              <a:t>“Understanding How Kickstarter Crowdfunding Works”</a:t>
            </a:r>
            <a:endParaRPr lang="en-IN" sz="3200" b="1" u="sng" dirty="0">
              <a:solidFill>
                <a:schemeClr val="accent2">
                  <a:lumMod val="75000"/>
                </a:schemeClr>
              </a:solidFill>
            </a:endParaRPr>
          </a:p>
        </p:txBody>
      </p:sp>
      <p:sp>
        <p:nvSpPr>
          <p:cNvPr id="32" name="TextBox 31">
            <a:extLst>
              <a:ext uri="{FF2B5EF4-FFF2-40B4-BE49-F238E27FC236}">
                <a16:creationId xmlns:a16="http://schemas.microsoft.com/office/drawing/2014/main" id="{31355720-AD8A-9E51-A08E-AF1B76AC6135}"/>
              </a:ext>
            </a:extLst>
          </p:cNvPr>
          <p:cNvSpPr txBox="1"/>
          <p:nvPr/>
        </p:nvSpPr>
        <p:spPr>
          <a:xfrm>
            <a:off x="169976" y="4876734"/>
            <a:ext cx="14749940" cy="1261884"/>
          </a:xfrm>
          <a:prstGeom prst="rect">
            <a:avLst/>
          </a:prstGeom>
          <a:noFill/>
        </p:spPr>
        <p:txBody>
          <a:bodyPr wrap="square">
            <a:spAutoFit/>
          </a:bodyPr>
          <a:lstStyle/>
          <a:p>
            <a:pPr marL="457200" indent="-457200">
              <a:buFont typeface="Wingdings" panose="05000000000000000000" pitchFamily="2" charset="2"/>
              <a:buChar char="§"/>
            </a:pPr>
            <a:r>
              <a:rPr lang="en-US" sz="2800" b="1" u="sng" dirty="0"/>
              <a:t>Creators launch</a:t>
            </a:r>
            <a:r>
              <a:rPr lang="en-US" sz="2800" b="1" dirty="0"/>
              <a:t>:</a:t>
            </a:r>
            <a:br>
              <a:rPr lang="en-US" sz="2000" b="1" dirty="0"/>
            </a:br>
            <a:r>
              <a:rPr lang="en-US" sz="2400" dirty="0"/>
              <a:t>A campaign by building a project page that outlines the funding goal, timeline, project description, and reward tiers for backers</a:t>
            </a:r>
            <a:r>
              <a:rPr lang="en-US" sz="2000" dirty="0"/>
              <a:t>.</a:t>
            </a:r>
            <a:endParaRPr lang="en-IN" sz="2000" dirty="0"/>
          </a:p>
        </p:txBody>
      </p:sp>
      <p:sp>
        <p:nvSpPr>
          <p:cNvPr id="36" name="TextBox 35">
            <a:extLst>
              <a:ext uri="{FF2B5EF4-FFF2-40B4-BE49-F238E27FC236}">
                <a16:creationId xmlns:a16="http://schemas.microsoft.com/office/drawing/2014/main" id="{E16B3534-5AB7-2C19-6850-29A7D7DE3B23}"/>
              </a:ext>
            </a:extLst>
          </p:cNvPr>
          <p:cNvSpPr txBox="1"/>
          <p:nvPr/>
        </p:nvSpPr>
        <p:spPr>
          <a:xfrm>
            <a:off x="154092" y="6354553"/>
            <a:ext cx="13343547" cy="892552"/>
          </a:xfrm>
          <a:prstGeom prst="rect">
            <a:avLst/>
          </a:prstGeom>
          <a:noFill/>
        </p:spPr>
        <p:txBody>
          <a:bodyPr wrap="square">
            <a:spAutoFit/>
          </a:bodyPr>
          <a:lstStyle/>
          <a:p>
            <a:pPr marL="285750" indent="-285750">
              <a:buFont typeface="Wingdings" panose="05000000000000000000" pitchFamily="2" charset="2"/>
              <a:buChar char="§"/>
            </a:pPr>
            <a:r>
              <a:rPr lang="en-US" sz="2800" b="1" u="sng" dirty="0"/>
              <a:t> Backers Pledge Money </a:t>
            </a:r>
            <a:r>
              <a:rPr lang="en-US" sz="2400" b="1" dirty="0"/>
              <a:t>:</a:t>
            </a:r>
            <a:br>
              <a:rPr lang="en-US" sz="2400" b="1" dirty="0"/>
            </a:br>
            <a:r>
              <a:rPr lang="en-US" sz="2400" b="1" dirty="0"/>
              <a:t> </a:t>
            </a:r>
            <a:r>
              <a:rPr lang="en-US" sz="2400" dirty="0"/>
              <a:t>Backers support the project by pledging money and selecting a reward tie.</a:t>
            </a:r>
            <a:endParaRPr lang="en-IN" sz="2400" dirty="0"/>
          </a:p>
        </p:txBody>
      </p:sp>
      <p:sp>
        <p:nvSpPr>
          <p:cNvPr id="38" name="TextBox 37">
            <a:extLst>
              <a:ext uri="{FF2B5EF4-FFF2-40B4-BE49-F238E27FC236}">
                <a16:creationId xmlns:a16="http://schemas.microsoft.com/office/drawing/2014/main" id="{B27AD182-84A9-B3EA-9E33-8A59D5EA5695}"/>
              </a:ext>
            </a:extLst>
          </p:cNvPr>
          <p:cNvSpPr txBox="1"/>
          <p:nvPr/>
        </p:nvSpPr>
        <p:spPr>
          <a:xfrm>
            <a:off x="154092" y="9137930"/>
            <a:ext cx="13614843" cy="892552"/>
          </a:xfrm>
          <a:prstGeom prst="rect">
            <a:avLst/>
          </a:prstGeom>
          <a:noFill/>
        </p:spPr>
        <p:txBody>
          <a:bodyPr wrap="square">
            <a:spAutoFit/>
          </a:bodyPr>
          <a:lstStyle/>
          <a:p>
            <a:pPr marL="457200" indent="-457200">
              <a:buFont typeface="Wingdings" panose="05000000000000000000" pitchFamily="2" charset="2"/>
              <a:buChar char="§"/>
            </a:pPr>
            <a:r>
              <a:rPr lang="en-US" sz="2800" b="1" u="sng" dirty="0"/>
              <a:t>Creator deliver Rewards:</a:t>
            </a:r>
            <a:br>
              <a:rPr lang="en-US" dirty="0"/>
            </a:br>
            <a:r>
              <a:rPr lang="en-US" sz="2400" dirty="0"/>
              <a:t>Once the project is funded, creators complete the project and fulfill the promised rewards to backers</a:t>
            </a:r>
            <a:endParaRPr lang="en-IN" sz="2400" dirty="0"/>
          </a:p>
        </p:txBody>
      </p:sp>
      <p:sp>
        <p:nvSpPr>
          <p:cNvPr id="40" name="TextBox 39">
            <a:extLst>
              <a:ext uri="{FF2B5EF4-FFF2-40B4-BE49-F238E27FC236}">
                <a16:creationId xmlns:a16="http://schemas.microsoft.com/office/drawing/2014/main" id="{FB820F3E-33D2-8CB3-D8F1-E6986224B4C9}"/>
              </a:ext>
            </a:extLst>
          </p:cNvPr>
          <p:cNvSpPr txBox="1"/>
          <p:nvPr/>
        </p:nvSpPr>
        <p:spPr>
          <a:xfrm>
            <a:off x="154092" y="7619528"/>
            <a:ext cx="14460423" cy="1261884"/>
          </a:xfrm>
          <a:prstGeom prst="rect">
            <a:avLst/>
          </a:prstGeom>
          <a:noFill/>
        </p:spPr>
        <p:txBody>
          <a:bodyPr wrap="square">
            <a:spAutoFit/>
          </a:bodyPr>
          <a:lstStyle/>
          <a:p>
            <a:pPr marL="457200" indent="-457200">
              <a:buFont typeface="Wingdings" panose="05000000000000000000" pitchFamily="2" charset="2"/>
              <a:buChar char="§"/>
            </a:pPr>
            <a:r>
              <a:rPr lang="en-US" sz="2800" b="1" u="sng" dirty="0"/>
              <a:t>All-or-Nothing Funding:</a:t>
            </a:r>
            <a:br>
              <a:rPr lang="en-US" sz="2800" b="1" u="sng" dirty="0"/>
            </a:br>
            <a:r>
              <a:rPr lang="en-US" sz="2400" dirty="0"/>
              <a:t>If the funding goal is met or exceeded, the creator receives the money. If the goal is not reached, no funds are collected, and backers are not charged.</a:t>
            </a:r>
            <a:endParaRPr lang="en-IN" sz="2400" dirty="0"/>
          </a:p>
        </p:txBody>
      </p:sp>
    </p:spTree>
    <p:extLst>
      <p:ext uri="{BB962C8B-B14F-4D97-AF65-F5344CB8AC3E}">
        <p14:creationId xmlns:p14="http://schemas.microsoft.com/office/powerpoint/2010/main" val="382450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DF8"/>
        </a:solidFill>
        <a:effectLst/>
      </p:bgPr>
    </p:bg>
    <p:spTree>
      <p:nvGrpSpPr>
        <p:cNvPr id="1" name=""/>
        <p:cNvGrpSpPr/>
        <p:nvPr/>
      </p:nvGrpSpPr>
      <p:grpSpPr>
        <a:xfrm>
          <a:off x="0" y="0"/>
          <a:ext cx="0" cy="0"/>
          <a:chOff x="0" y="0"/>
          <a:chExt cx="0" cy="0"/>
        </a:xfrm>
      </p:grpSpPr>
      <p:sp>
        <p:nvSpPr>
          <p:cNvPr id="2" name="Freeform 2"/>
          <p:cNvSpPr/>
          <p:nvPr/>
        </p:nvSpPr>
        <p:spPr>
          <a:xfrm>
            <a:off x="2133600" y="2085804"/>
            <a:ext cx="5361109" cy="1354898"/>
          </a:xfrm>
          <a:custGeom>
            <a:avLst/>
            <a:gdLst/>
            <a:ahLst/>
            <a:cxnLst/>
            <a:rect l="l" t="t" r="r" b="b"/>
            <a:pathLst>
              <a:path w="5361109" h="1354898">
                <a:moveTo>
                  <a:pt x="0" y="0"/>
                </a:moveTo>
                <a:lnTo>
                  <a:pt x="5361109" y="0"/>
                </a:lnTo>
                <a:lnTo>
                  <a:pt x="5361109" y="1354898"/>
                </a:lnTo>
                <a:lnTo>
                  <a:pt x="0" y="1354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a:off x="11221830" y="2242532"/>
            <a:ext cx="5361109" cy="1354898"/>
          </a:xfrm>
          <a:custGeom>
            <a:avLst/>
            <a:gdLst/>
            <a:ahLst/>
            <a:cxnLst/>
            <a:rect l="l" t="t" r="r" b="b"/>
            <a:pathLst>
              <a:path w="5361109" h="1354898">
                <a:moveTo>
                  <a:pt x="0" y="0"/>
                </a:moveTo>
                <a:lnTo>
                  <a:pt x="5361109" y="0"/>
                </a:lnTo>
                <a:lnTo>
                  <a:pt x="5361109" y="1354898"/>
                </a:lnTo>
                <a:lnTo>
                  <a:pt x="0" y="1354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2133598" y="4310718"/>
            <a:ext cx="5361109" cy="1354898"/>
          </a:xfrm>
          <a:custGeom>
            <a:avLst/>
            <a:gdLst/>
            <a:ahLst/>
            <a:cxnLst/>
            <a:rect l="l" t="t" r="r" b="b"/>
            <a:pathLst>
              <a:path w="5361109" h="1354898">
                <a:moveTo>
                  <a:pt x="0" y="0"/>
                </a:moveTo>
                <a:lnTo>
                  <a:pt x="5361109" y="0"/>
                </a:lnTo>
                <a:lnTo>
                  <a:pt x="5361109" y="1354899"/>
                </a:lnTo>
                <a:lnTo>
                  <a:pt x="0" y="1354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1221828" y="4305102"/>
            <a:ext cx="5361109" cy="1354898"/>
          </a:xfrm>
          <a:custGeom>
            <a:avLst/>
            <a:gdLst/>
            <a:ahLst/>
            <a:cxnLst/>
            <a:rect l="l" t="t" r="r" b="b"/>
            <a:pathLst>
              <a:path w="5361109" h="1354898">
                <a:moveTo>
                  <a:pt x="0" y="0"/>
                </a:moveTo>
                <a:lnTo>
                  <a:pt x="5361109" y="0"/>
                </a:lnTo>
                <a:lnTo>
                  <a:pt x="5361109" y="1354899"/>
                </a:lnTo>
                <a:lnTo>
                  <a:pt x="0" y="1354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3886200" y="6617900"/>
            <a:ext cx="5742109" cy="1354898"/>
          </a:xfrm>
          <a:custGeom>
            <a:avLst/>
            <a:gdLst/>
            <a:ahLst/>
            <a:cxnLst/>
            <a:rect l="l" t="t" r="r" b="b"/>
            <a:pathLst>
              <a:path w="5361109" h="1354898">
                <a:moveTo>
                  <a:pt x="0" y="0"/>
                </a:moveTo>
                <a:lnTo>
                  <a:pt x="5361108" y="0"/>
                </a:lnTo>
                <a:lnTo>
                  <a:pt x="5361108" y="1354898"/>
                </a:lnTo>
                <a:lnTo>
                  <a:pt x="0" y="1354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2743200" y="164474"/>
            <a:ext cx="7620000" cy="1153906"/>
          </a:xfrm>
          <a:prstGeom prst="rect">
            <a:avLst/>
          </a:prstGeom>
        </p:spPr>
        <p:txBody>
          <a:bodyPr wrap="square" lIns="0" tIns="0" rIns="0" bIns="0" rtlCol="0" anchor="t">
            <a:spAutoFit/>
          </a:bodyPr>
          <a:lstStyle/>
          <a:p>
            <a:pPr algn="ctr">
              <a:lnSpc>
                <a:spcPts val="10500"/>
              </a:lnSpc>
            </a:pPr>
            <a:r>
              <a:rPr lang="en-US" sz="4800" b="1" dirty="0">
                <a:solidFill>
                  <a:srgbClr val="7688C1"/>
                </a:solidFill>
                <a:latin typeface="Oswald Bold"/>
                <a:ea typeface="Oswald Bold"/>
                <a:cs typeface="Oswald Bold"/>
                <a:sym typeface="Oswald Bold"/>
              </a:rPr>
              <a:t>Project Creators – Group 5</a:t>
            </a:r>
          </a:p>
        </p:txBody>
      </p:sp>
      <p:sp>
        <p:nvSpPr>
          <p:cNvPr id="8" name="TextBox 8"/>
          <p:cNvSpPr txBox="1"/>
          <p:nvPr/>
        </p:nvSpPr>
        <p:spPr>
          <a:xfrm>
            <a:off x="2930905" y="2493322"/>
            <a:ext cx="3766497" cy="762000"/>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Isha Peter</a:t>
            </a:r>
          </a:p>
        </p:txBody>
      </p:sp>
      <p:sp>
        <p:nvSpPr>
          <p:cNvPr id="9" name="TextBox 9"/>
          <p:cNvSpPr txBox="1"/>
          <p:nvPr/>
        </p:nvSpPr>
        <p:spPr>
          <a:xfrm>
            <a:off x="12019135" y="2647561"/>
            <a:ext cx="3766497" cy="740972"/>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Simran Kumari</a:t>
            </a:r>
          </a:p>
        </p:txBody>
      </p:sp>
      <p:sp>
        <p:nvSpPr>
          <p:cNvPr id="10" name="TextBox 10"/>
          <p:cNvSpPr txBox="1"/>
          <p:nvPr/>
        </p:nvSpPr>
        <p:spPr>
          <a:xfrm>
            <a:off x="2912762" y="4761777"/>
            <a:ext cx="3766497" cy="762000"/>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Geetika Sai</a:t>
            </a:r>
          </a:p>
        </p:txBody>
      </p:sp>
      <p:sp>
        <p:nvSpPr>
          <p:cNvPr id="11" name="TextBox 11"/>
          <p:cNvSpPr txBox="1"/>
          <p:nvPr/>
        </p:nvSpPr>
        <p:spPr>
          <a:xfrm>
            <a:off x="11887200" y="4663406"/>
            <a:ext cx="3766497" cy="740972"/>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Sowmya </a:t>
            </a:r>
            <a:r>
              <a:rPr lang="en-US" sz="4500" dirty="0" err="1">
                <a:solidFill>
                  <a:srgbClr val="FFFFFF"/>
                </a:solidFill>
                <a:latin typeface="Oswald"/>
                <a:ea typeface="Oswald"/>
                <a:cs typeface="Oswald"/>
                <a:sym typeface="Oswald"/>
              </a:rPr>
              <a:t>Shevire</a:t>
            </a:r>
            <a:endParaRPr lang="en-US" sz="4500" dirty="0">
              <a:solidFill>
                <a:srgbClr val="FFFFFF"/>
              </a:solidFill>
              <a:latin typeface="Oswald"/>
              <a:ea typeface="Oswald"/>
              <a:cs typeface="Oswald"/>
              <a:sym typeface="Oswald"/>
            </a:endParaRPr>
          </a:p>
        </p:txBody>
      </p:sp>
      <p:sp>
        <p:nvSpPr>
          <p:cNvPr id="12" name="TextBox 12"/>
          <p:cNvSpPr txBox="1"/>
          <p:nvPr/>
        </p:nvSpPr>
        <p:spPr>
          <a:xfrm>
            <a:off x="4874005" y="6956342"/>
            <a:ext cx="3766497" cy="725968"/>
          </a:xfrm>
          <a:prstGeom prst="rect">
            <a:avLst/>
          </a:prstGeom>
        </p:spPr>
        <p:txBody>
          <a:bodyPr lIns="0" tIns="0" rIns="0" bIns="0" rtlCol="0" anchor="t">
            <a:spAutoFit/>
          </a:bodyPr>
          <a:lstStyle/>
          <a:p>
            <a:pPr algn="ctr">
              <a:lnSpc>
                <a:spcPts val="6299"/>
              </a:lnSpc>
            </a:pPr>
            <a:r>
              <a:rPr lang="en-US" sz="4000" dirty="0">
                <a:solidFill>
                  <a:srgbClr val="FFFFFF"/>
                </a:solidFill>
                <a:latin typeface="Oswald"/>
                <a:ea typeface="Oswald"/>
                <a:cs typeface="Oswald"/>
                <a:sym typeface="Oswald"/>
              </a:rPr>
              <a:t>Chaitanya </a:t>
            </a:r>
            <a:r>
              <a:rPr lang="en-US" sz="4000" dirty="0" err="1">
                <a:solidFill>
                  <a:srgbClr val="FFFFFF"/>
                </a:solidFill>
                <a:latin typeface="Oswald"/>
                <a:ea typeface="Oswald"/>
                <a:cs typeface="Oswald"/>
                <a:sym typeface="Oswald"/>
              </a:rPr>
              <a:t>Tamatam</a:t>
            </a:r>
            <a:endParaRPr lang="en-US" sz="4000" dirty="0">
              <a:solidFill>
                <a:srgbClr val="FFFFFF"/>
              </a:solidFill>
              <a:latin typeface="Oswald"/>
              <a:ea typeface="Oswald"/>
              <a:cs typeface="Oswald"/>
              <a:sym typeface="Oswald"/>
            </a:endParaRPr>
          </a:p>
        </p:txBody>
      </p:sp>
      <p:grpSp>
        <p:nvGrpSpPr>
          <p:cNvPr id="13" name="Group 13"/>
          <p:cNvGrpSpPr/>
          <p:nvPr/>
        </p:nvGrpSpPr>
        <p:grpSpPr>
          <a:xfrm>
            <a:off x="-1935679" y="-114300"/>
            <a:ext cx="3423770" cy="10472611"/>
            <a:chOff x="0" y="0"/>
            <a:chExt cx="4659653" cy="20234308"/>
          </a:xfrm>
        </p:grpSpPr>
        <p:sp>
          <p:nvSpPr>
            <p:cNvPr id="14" name="Freeform 14"/>
            <p:cNvSpPr/>
            <p:nvPr/>
          </p:nvSpPr>
          <p:spPr>
            <a:xfrm rot="5400000" flipH="1">
              <a:off x="-2858046" y="2858046"/>
              <a:ext cx="10375746" cy="4659653"/>
            </a:xfrm>
            <a:custGeom>
              <a:avLst/>
              <a:gdLst/>
              <a:ahLst/>
              <a:cxnLst/>
              <a:rect l="l" t="t" r="r" b="b"/>
              <a:pathLst>
                <a:path w="10375746" h="4659653">
                  <a:moveTo>
                    <a:pt x="10375745" y="0"/>
                  </a:moveTo>
                  <a:lnTo>
                    <a:pt x="0" y="0"/>
                  </a:lnTo>
                  <a:lnTo>
                    <a:pt x="0" y="4659653"/>
                  </a:lnTo>
                  <a:lnTo>
                    <a:pt x="10375745" y="4659653"/>
                  </a:lnTo>
                  <a:lnTo>
                    <a:pt x="10375745"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5" name="Freeform 15"/>
            <p:cNvSpPr/>
            <p:nvPr/>
          </p:nvSpPr>
          <p:spPr>
            <a:xfrm rot="5400000">
              <a:off x="-2858046" y="12716609"/>
              <a:ext cx="10375746" cy="4659653"/>
            </a:xfrm>
            <a:custGeom>
              <a:avLst/>
              <a:gdLst/>
              <a:ahLst/>
              <a:cxnLst/>
              <a:rect l="l" t="t" r="r" b="b"/>
              <a:pathLst>
                <a:path w="10375746" h="4659653">
                  <a:moveTo>
                    <a:pt x="0" y="0"/>
                  </a:moveTo>
                  <a:lnTo>
                    <a:pt x="10375745" y="0"/>
                  </a:lnTo>
                  <a:lnTo>
                    <a:pt x="10375745" y="4659653"/>
                  </a:lnTo>
                  <a:lnTo>
                    <a:pt x="0" y="4659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pic>
        <p:nvPicPr>
          <p:cNvPr id="2052" name="Picture 4" descr="Women together Custom-Designed Illustrations | Ladies day, Happy girls,  Women">
            <a:extLst>
              <a:ext uri="{FF2B5EF4-FFF2-40B4-BE49-F238E27FC236}">
                <a16:creationId xmlns:a16="http://schemas.microsoft.com/office/drawing/2014/main" id="{9C6D974B-3C52-F101-4217-D6D9F790BF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10800" y="6134100"/>
            <a:ext cx="6858000" cy="41529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Teamwork vs Collaboration: The Power of ...">
            <a:extLst>
              <a:ext uri="{FF2B5EF4-FFF2-40B4-BE49-F238E27FC236}">
                <a16:creationId xmlns:a16="http://schemas.microsoft.com/office/drawing/2014/main" id="{1E69F4DD-DC72-0BBD-4678-281F1D31E8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7990" y="108272"/>
            <a:ext cx="4344013" cy="19775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23" name="Rectangle 3122">
            <a:extLst>
              <a:ext uri="{FF2B5EF4-FFF2-40B4-BE49-F238E27FC236}">
                <a16:creationId xmlns:a16="http://schemas.microsoft.com/office/drawing/2014/main" id="{9A506190-B75F-4A39-8E5E-DA7513B1B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1"/>
          <p:cNvSpPr txBox="1"/>
          <p:nvPr/>
        </p:nvSpPr>
        <p:spPr>
          <a:xfrm>
            <a:off x="7620000" y="241275"/>
            <a:ext cx="8771672" cy="169230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b="1" u="sng">
                <a:latin typeface="+mj-lt"/>
                <a:ea typeface="+mj-ea"/>
                <a:cs typeface="+mj-cs"/>
              </a:rPr>
              <a:t>Project Objective</a:t>
            </a:r>
            <a:endParaRPr lang="en-US" sz="4200" b="1" u="sng" dirty="0">
              <a:latin typeface="+mj-lt"/>
              <a:ea typeface="+mj-ea"/>
              <a:cs typeface="+mj-cs"/>
              <a:sym typeface="Oswald Bold"/>
            </a:endParaRPr>
          </a:p>
        </p:txBody>
      </p:sp>
      <p:sp>
        <p:nvSpPr>
          <p:cNvPr id="3125" name="Rectangle 3124">
            <a:extLst>
              <a:ext uri="{FF2B5EF4-FFF2-40B4-BE49-F238E27FC236}">
                <a16:creationId xmlns:a16="http://schemas.microsoft.com/office/drawing/2014/main" id="{8587DE20-364E-4BE1-B603-E62BB8A63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6533680" cy="10287003"/>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7" name="Rectangle 3126">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377940" y="0"/>
            <a:ext cx="11910060" cy="9601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3074" name="Picture 2" descr="16,540 Objective Word Stock Photos ...">
            <a:extLst>
              <a:ext uri="{FF2B5EF4-FFF2-40B4-BE49-F238E27FC236}">
                <a16:creationId xmlns:a16="http://schemas.microsoft.com/office/drawing/2014/main" id="{22CACA9E-4CBF-A525-743E-21091E8FB0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8603" y="502633"/>
            <a:ext cx="3708597" cy="2861885"/>
          </a:xfrm>
          <a:prstGeom prst="rect">
            <a:avLst/>
          </a:prstGeom>
          <a:noFill/>
          <a:extLst>
            <a:ext uri="{909E8E84-426E-40DD-AFC4-6F175D3DCCD1}">
              <a14:hiddenFill xmlns:a14="http://schemas.microsoft.com/office/drawing/2010/main">
                <a:solidFill>
                  <a:srgbClr val="FFFFFF"/>
                </a:solidFill>
              </a14:hiddenFill>
            </a:ext>
          </a:extLst>
        </p:spPr>
      </p:pic>
      <p:sp>
        <p:nvSpPr>
          <p:cNvPr id="3129" name="Rectangle 3128">
            <a:extLst>
              <a:ext uri="{FF2B5EF4-FFF2-40B4-BE49-F238E27FC236}">
                <a16:creationId xmlns:a16="http://schemas.microsoft.com/office/drawing/2014/main" id="{FBCA7CDC-1A5B-46A3-ACC6-B4038FE54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377940" y="10190988"/>
            <a:ext cx="11910060" cy="9601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4" name="Group 4"/>
          <p:cNvGrpSpPr/>
          <p:nvPr/>
        </p:nvGrpSpPr>
        <p:grpSpPr>
          <a:xfrm>
            <a:off x="762001" y="6667500"/>
            <a:ext cx="4571999" cy="2861885"/>
            <a:chOff x="0" y="0"/>
            <a:chExt cx="1009937" cy="812800"/>
          </a:xfrm>
        </p:grpSpPr>
        <p:sp>
          <p:nvSpPr>
            <p:cNvPr id="5" name="Freeform 5"/>
            <p:cNvSpPr/>
            <p:nvPr/>
          </p:nvSpPr>
          <p:spPr>
            <a:xfrm>
              <a:off x="0" y="0"/>
              <a:ext cx="1009937" cy="812800"/>
            </a:xfrm>
            <a:custGeom>
              <a:avLst/>
              <a:gdLst/>
              <a:ahLst/>
              <a:cxnLst/>
              <a:rect l="l" t="t" r="r" b="b"/>
              <a:pathLst>
                <a:path w="1009937" h="812800">
                  <a:moveTo>
                    <a:pt x="27315" y="0"/>
                  </a:moveTo>
                  <a:lnTo>
                    <a:pt x="982621" y="0"/>
                  </a:lnTo>
                  <a:cubicBezTo>
                    <a:pt x="997707" y="0"/>
                    <a:pt x="1009937" y="12230"/>
                    <a:pt x="1009937" y="27315"/>
                  </a:cubicBezTo>
                  <a:lnTo>
                    <a:pt x="1009937" y="785485"/>
                  </a:lnTo>
                  <a:cubicBezTo>
                    <a:pt x="1009937" y="800571"/>
                    <a:pt x="997707" y="812800"/>
                    <a:pt x="982621" y="812800"/>
                  </a:cubicBezTo>
                  <a:lnTo>
                    <a:pt x="27315" y="812800"/>
                  </a:lnTo>
                  <a:cubicBezTo>
                    <a:pt x="12230" y="812800"/>
                    <a:pt x="0" y="800571"/>
                    <a:pt x="0" y="785485"/>
                  </a:cubicBezTo>
                  <a:lnTo>
                    <a:pt x="0" y="27315"/>
                  </a:lnTo>
                  <a:cubicBezTo>
                    <a:pt x="0" y="12230"/>
                    <a:pt x="12230" y="0"/>
                    <a:pt x="27315" y="0"/>
                  </a:cubicBezTo>
                  <a:close/>
                </a:path>
              </a:pathLst>
            </a:custGeom>
            <a:blipFill>
              <a:blip r:embed="rId3"/>
              <a:stretch>
                <a:fillRect l="-26264" t="-13135" r="-10397"/>
              </a:stretch>
            </a:blipFill>
          </p:spPr>
          <p:txBody>
            <a:bodyPr/>
            <a:lstStyle/>
            <a:p>
              <a:endParaRPr lang="en-IN"/>
            </a:p>
          </p:txBody>
        </p:sp>
      </p:grpSp>
      <p:grpSp>
        <p:nvGrpSpPr>
          <p:cNvPr id="6" name="Group 6"/>
          <p:cNvGrpSpPr/>
          <p:nvPr/>
        </p:nvGrpSpPr>
        <p:grpSpPr>
          <a:xfrm>
            <a:off x="381000" y="4130275"/>
            <a:ext cx="5512193" cy="1036083"/>
            <a:chOff x="0" y="0"/>
            <a:chExt cx="30417241" cy="4659653"/>
          </a:xfrm>
        </p:grpSpPr>
        <p:sp>
          <p:nvSpPr>
            <p:cNvPr id="7" name="Freeform 7"/>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Freeform 8"/>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graphicFrame>
        <p:nvGraphicFramePr>
          <p:cNvPr id="3118" name="TextBox 12">
            <a:extLst>
              <a:ext uri="{FF2B5EF4-FFF2-40B4-BE49-F238E27FC236}">
                <a16:creationId xmlns:a16="http://schemas.microsoft.com/office/drawing/2014/main" id="{FD131902-F067-4A3D-0020-15F401C28A4D}"/>
              </a:ext>
            </a:extLst>
          </p:cNvPr>
          <p:cNvGraphicFramePr/>
          <p:nvPr>
            <p:extLst>
              <p:ext uri="{D42A27DB-BD31-4B8C-83A1-F6EECF244321}">
                <p14:modId xmlns:p14="http://schemas.microsoft.com/office/powerpoint/2010/main" val="2042001487"/>
              </p:ext>
            </p:extLst>
          </p:nvPr>
        </p:nvGraphicFramePr>
        <p:xfrm>
          <a:off x="7620000" y="2517182"/>
          <a:ext cx="9753600" cy="674111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 y="0"/>
            <a:ext cx="18287543"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3" name="Freeform: Shape 42">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45401" y="5976"/>
            <a:ext cx="14064948" cy="10287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55104" y="5977"/>
            <a:ext cx="14659148" cy="10287000"/>
            <a:chOff x="1303402" y="36937"/>
            <a:chExt cx="9772765" cy="6858000"/>
          </a:xfrm>
          <a:solidFill>
            <a:schemeClr val="bg1">
              <a:alpha val="30000"/>
            </a:schemeClr>
          </a:solidFill>
        </p:grpSpPr>
        <p:sp>
          <p:nvSpPr>
            <p:cNvPr id="46" name="Freeform: Shape 45">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7" name="Freeform: Shape 46">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16" name="TextBox 20">
            <a:extLst>
              <a:ext uri="{FF2B5EF4-FFF2-40B4-BE49-F238E27FC236}">
                <a16:creationId xmlns:a16="http://schemas.microsoft.com/office/drawing/2014/main" id="{77A606D5-601B-FDAF-B049-A1B4B9220C40}"/>
              </a:ext>
            </a:extLst>
          </p:cNvPr>
          <p:cNvSpPr txBox="1"/>
          <p:nvPr/>
        </p:nvSpPr>
        <p:spPr>
          <a:xfrm>
            <a:off x="5277390" y="235736"/>
            <a:ext cx="7780263" cy="843345"/>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6000" b="1" i="1" u="sng" kern="1200" dirty="0">
                <a:solidFill>
                  <a:schemeClr val="tx2"/>
                </a:solidFill>
                <a:latin typeface="+mj-lt"/>
                <a:ea typeface="+mj-ea"/>
                <a:cs typeface="+mj-cs"/>
              </a:rPr>
              <a:t>Methodology</a:t>
            </a:r>
            <a:endParaRPr lang="en-US" sz="6000" b="1" i="1" u="sng" kern="1200" dirty="0">
              <a:solidFill>
                <a:schemeClr val="tx2"/>
              </a:solidFill>
              <a:latin typeface="+mj-lt"/>
              <a:ea typeface="+mj-ea"/>
              <a:cs typeface="+mj-cs"/>
              <a:sym typeface="Oswald Bold"/>
            </a:endParaRPr>
          </a:p>
        </p:txBody>
      </p:sp>
      <p:sp>
        <p:nvSpPr>
          <p:cNvPr id="6" name="TextBox 5">
            <a:extLst>
              <a:ext uri="{FF2B5EF4-FFF2-40B4-BE49-F238E27FC236}">
                <a16:creationId xmlns:a16="http://schemas.microsoft.com/office/drawing/2014/main" id="{752AEDAC-5241-1949-3806-1BB1E1957D34}"/>
              </a:ext>
            </a:extLst>
          </p:cNvPr>
          <p:cNvSpPr txBox="1"/>
          <p:nvPr/>
        </p:nvSpPr>
        <p:spPr>
          <a:xfrm>
            <a:off x="330980" y="2445105"/>
            <a:ext cx="6569695" cy="1023119"/>
          </a:xfrm>
          <a:prstGeom prst="rect">
            <a:avLst/>
          </a:prstGeom>
        </p:spPr>
        <p:txBody>
          <a:bodyPr vert="horz" lIns="91440" tIns="45720" rIns="91440" bIns="45720" rtlCol="0">
            <a:normAutofit/>
          </a:bodyPr>
          <a:lstStyle/>
          <a:p>
            <a:pPr marL="457200" indent="-457200" algn="ctr">
              <a:lnSpc>
                <a:spcPct val="90000"/>
              </a:lnSpc>
              <a:spcBef>
                <a:spcPts val="1000"/>
              </a:spcBef>
              <a:spcAft>
                <a:spcPts val="600"/>
              </a:spcAft>
              <a:buFont typeface="Wingdings" panose="05000000000000000000" pitchFamily="2" charset="2"/>
              <a:buChar char="v"/>
            </a:pPr>
            <a:r>
              <a:rPr lang="en-US" altLang="en-US" sz="2800" b="1" kern="1200" dirty="0">
                <a:latin typeface="+mn-lt"/>
                <a:ea typeface="+mn-ea"/>
                <a:cs typeface="+mn-cs"/>
              </a:rPr>
              <a:t> </a:t>
            </a:r>
            <a:r>
              <a:rPr lang="en-US" altLang="en-US" sz="2800" b="1" kern="1200" dirty="0">
                <a:latin typeface="Arial" panose="020B0604020202020204" pitchFamily="34" charset="0"/>
                <a:cs typeface="Arial" panose="020B0604020202020204" pitchFamily="34" charset="0"/>
              </a:rPr>
              <a:t>Data Cleaning </a:t>
            </a:r>
            <a:r>
              <a:rPr lang="en-US" altLang="en-US" sz="2800" b="1" kern="1200" dirty="0">
                <a:latin typeface="+mn-lt"/>
                <a:ea typeface="+mn-ea"/>
                <a:cs typeface="+mn-cs"/>
              </a:rPr>
              <a:t>: </a:t>
            </a:r>
            <a:r>
              <a:rPr lang="en-US" altLang="en-US" sz="2800" kern="1200" dirty="0">
                <a:latin typeface="+mn-lt"/>
                <a:ea typeface="+mn-ea"/>
                <a:cs typeface="+mn-cs"/>
              </a:rPr>
              <a:t>Excel/SQL.</a:t>
            </a:r>
          </a:p>
        </p:txBody>
      </p:sp>
      <p:grpSp>
        <p:nvGrpSpPr>
          <p:cNvPr id="54" name="Group 53">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7" y="-6233"/>
            <a:ext cx="3772421" cy="3261500"/>
            <a:chOff x="-305" y="-4155"/>
            <a:chExt cx="2514948" cy="2174333"/>
          </a:xfrm>
        </p:grpSpPr>
        <p:sp>
          <p:nvSpPr>
            <p:cNvPr id="55" name="Freeform: Shape 54">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8" name="Freeform: Shape 57">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0" name="Group 59">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14528590" y="7025499"/>
            <a:ext cx="3772422" cy="3261500"/>
            <a:chOff x="-305" y="-4155"/>
            <a:chExt cx="2514948" cy="2174333"/>
          </a:xfrm>
        </p:grpSpPr>
        <p:sp>
          <p:nvSpPr>
            <p:cNvPr id="61" name="Freeform: Shape 60">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4" name="Freeform: Shape 63">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extBox 6">
            <a:extLst>
              <a:ext uri="{FF2B5EF4-FFF2-40B4-BE49-F238E27FC236}">
                <a16:creationId xmlns:a16="http://schemas.microsoft.com/office/drawing/2014/main" id="{0A1DA218-5067-A63F-1021-C2D7AD158F31}"/>
              </a:ext>
            </a:extLst>
          </p:cNvPr>
          <p:cNvSpPr txBox="1"/>
          <p:nvPr/>
        </p:nvSpPr>
        <p:spPr>
          <a:xfrm>
            <a:off x="1069999" y="3733844"/>
            <a:ext cx="8763000" cy="1179810"/>
          </a:xfrm>
          <a:prstGeom prst="rect">
            <a:avLst/>
          </a:prstGeom>
          <a:noFill/>
        </p:spPr>
        <p:txBody>
          <a:bodyPr wrap="square" rtlCol="0">
            <a:spAutoFit/>
          </a:bodyPr>
          <a:lstStyle/>
          <a:p>
            <a:pPr marL="457200" indent="-457200" fontAlgn="base">
              <a:lnSpc>
                <a:spcPct val="150000"/>
              </a:lnSpc>
              <a:spcAft>
                <a:spcPts val="600"/>
              </a:spcAft>
              <a:buFont typeface="Wingdings" panose="05000000000000000000" pitchFamily="2" charset="2"/>
              <a:buChar char="v"/>
            </a:pPr>
            <a:r>
              <a:rPr lang="en-US" altLang="en-US" sz="2800" b="1" dirty="0">
                <a:latin typeface="Arial" panose="020B0604020202020204" pitchFamily="34" charset="0"/>
                <a:cs typeface="Arial" panose="020B0604020202020204" pitchFamily="34" charset="0"/>
              </a:rPr>
              <a:t> Analysis &amp; Visualization: </a:t>
            </a:r>
            <a:r>
              <a:rPr lang="en-US" altLang="en-US" sz="2800" dirty="0">
                <a:latin typeface="Arial" panose="020B0604020202020204" pitchFamily="34" charset="0"/>
                <a:cs typeface="Arial" panose="020B0604020202020204" pitchFamily="34" charset="0"/>
              </a:rPr>
              <a:t>Power BI &amp; Tableau.</a:t>
            </a:r>
          </a:p>
          <a:p>
            <a:pPr marR="0" lvl="0" fontAlgn="base">
              <a:lnSpc>
                <a:spcPct val="150000"/>
              </a:lnSpc>
              <a:spcAft>
                <a:spcPts val="600"/>
              </a:spcAft>
              <a:tabLst/>
            </a:pPr>
            <a:endParaRPr lang="en-US" alt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9D7FCC3-B3EE-820B-8EF7-8CB99872015B}"/>
              </a:ext>
            </a:extLst>
          </p:cNvPr>
          <p:cNvSpPr txBox="1"/>
          <p:nvPr/>
        </p:nvSpPr>
        <p:spPr>
          <a:xfrm>
            <a:off x="1069999" y="5292244"/>
            <a:ext cx="15081454" cy="1305165"/>
          </a:xfrm>
          <a:prstGeom prst="rect">
            <a:avLst/>
          </a:prstGeom>
          <a:noFill/>
        </p:spPr>
        <p:txBody>
          <a:bodyPr wrap="square">
            <a:spAutoFit/>
          </a:bodyPr>
          <a:lstStyle/>
          <a:p>
            <a:pPr marL="457200" marR="0" lvl="0" indent="-457200" fontAlgn="base">
              <a:lnSpc>
                <a:spcPct val="150000"/>
              </a:lnSpc>
              <a:spcAft>
                <a:spcPts val="600"/>
              </a:spcAft>
              <a:buFont typeface="Wingdings" panose="05000000000000000000" pitchFamily="2" charset="2"/>
              <a:buChar char="v"/>
              <a:tabLst/>
            </a:pPr>
            <a:r>
              <a:rPr lang="en-US" altLang="en-US" sz="2800" b="1" dirty="0">
                <a:latin typeface="Arial" panose="020B0604020202020204" pitchFamily="34" charset="0"/>
                <a:cs typeface="Arial" panose="020B0604020202020204" pitchFamily="34" charset="0"/>
              </a:rPr>
              <a:t> Key Metrics: </a:t>
            </a:r>
            <a:r>
              <a:rPr lang="en-US" altLang="en-US" sz="2800" dirty="0">
                <a:latin typeface="Arial" panose="020B0604020202020204" pitchFamily="34" charset="0"/>
                <a:cs typeface="Arial" panose="020B0604020202020204" pitchFamily="34" charset="0"/>
              </a:rPr>
              <a:t>Success rate, pledged amount vs goal, average funding per category, top-performing campaigns.</a:t>
            </a:r>
          </a:p>
        </p:txBody>
      </p:sp>
      <p:sp>
        <p:nvSpPr>
          <p:cNvPr id="14" name="TextBox 13">
            <a:extLst>
              <a:ext uri="{FF2B5EF4-FFF2-40B4-BE49-F238E27FC236}">
                <a16:creationId xmlns:a16="http://schemas.microsoft.com/office/drawing/2014/main" id="{D6944056-2E17-27A2-5EF4-AE318BC8EC9E}"/>
              </a:ext>
            </a:extLst>
          </p:cNvPr>
          <p:cNvSpPr txBox="1"/>
          <p:nvPr/>
        </p:nvSpPr>
        <p:spPr>
          <a:xfrm>
            <a:off x="1039519" y="7556738"/>
            <a:ext cx="13458478" cy="658835"/>
          </a:xfrm>
          <a:prstGeom prst="rect">
            <a:avLst/>
          </a:prstGeom>
          <a:noFill/>
        </p:spPr>
        <p:txBody>
          <a:bodyPr wrap="square" rtlCol="0">
            <a:spAutoFit/>
          </a:bodyPr>
          <a:lstStyle/>
          <a:p>
            <a:pPr marL="457200" marR="0" lvl="0" indent="-457200" fontAlgn="base">
              <a:lnSpc>
                <a:spcPct val="150000"/>
              </a:lnSpc>
              <a:spcAft>
                <a:spcPts val="600"/>
              </a:spcAft>
              <a:buFont typeface="Wingdings" panose="05000000000000000000" pitchFamily="2" charset="2"/>
              <a:buChar char="v"/>
              <a:tabLst/>
            </a:pPr>
            <a:r>
              <a:rPr lang="en-US" altLang="en-US" sz="2800" b="1" dirty="0">
                <a:latin typeface="Arial" panose="020B0604020202020204" pitchFamily="34" charset="0"/>
                <a:cs typeface="Arial" panose="020B0604020202020204" pitchFamily="34" charset="0"/>
              </a:rPr>
              <a:t> Visual: </a:t>
            </a:r>
            <a:r>
              <a:rPr lang="en-US" altLang="en-US" sz="2800" dirty="0">
                <a:latin typeface="Arial" panose="020B0604020202020204" pitchFamily="34" charset="0"/>
                <a:cs typeface="Arial" panose="020B0604020202020204" pitchFamily="34" charset="0"/>
              </a:rPr>
              <a:t>Flowchart of data → analysis → visualization.</a:t>
            </a:r>
          </a:p>
        </p:txBody>
      </p:sp>
      <p:pic>
        <p:nvPicPr>
          <p:cNvPr id="5122" name="Picture 2" descr="The Importance of Data Cleaning ...">
            <a:extLst>
              <a:ext uri="{FF2B5EF4-FFF2-40B4-BE49-F238E27FC236}">
                <a16:creationId xmlns:a16="http://schemas.microsoft.com/office/drawing/2014/main" id="{220136FA-6B2D-84D2-99AB-9CC3A8A41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8101" y="2254777"/>
            <a:ext cx="1682440" cy="8934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derstanding Data Visualization: Tips ...">
            <a:extLst>
              <a:ext uri="{FF2B5EF4-FFF2-40B4-BE49-F238E27FC236}">
                <a16:creationId xmlns:a16="http://schemas.microsoft.com/office/drawing/2014/main" id="{5BB6EA30-58BD-684E-5EB0-DD6A8D750D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989" y="4014963"/>
            <a:ext cx="1612561" cy="84334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9 Key Metrics Every Business Should ...">
            <a:extLst>
              <a:ext uri="{FF2B5EF4-FFF2-40B4-BE49-F238E27FC236}">
                <a16:creationId xmlns:a16="http://schemas.microsoft.com/office/drawing/2014/main" id="{AF86C194-CEB2-6B57-1622-E5F2187D9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2279" y="6154937"/>
            <a:ext cx="1712921" cy="870562"/>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Graph Key Stock Illustrations – 14,428 ...">
            <a:extLst>
              <a:ext uri="{FF2B5EF4-FFF2-40B4-BE49-F238E27FC236}">
                <a16:creationId xmlns:a16="http://schemas.microsoft.com/office/drawing/2014/main" id="{16A3B12A-24F6-DB09-7D75-0DC64CB26F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17802" y="7701729"/>
            <a:ext cx="1597197" cy="1099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826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Rectangle 6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310612" y="6399"/>
            <a:ext cx="5023388" cy="178430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u="sng" kern="1200" dirty="0">
                <a:solidFill>
                  <a:schemeClr val="tx1"/>
                </a:solidFill>
                <a:latin typeface="+mj-lt"/>
                <a:ea typeface="+mj-ea"/>
                <a:cs typeface="+mj-cs"/>
              </a:rPr>
              <a:t>Excel Analysis</a:t>
            </a:r>
            <a:endParaRPr lang="en-US" sz="5400" b="1" u="sng" kern="1200" dirty="0">
              <a:solidFill>
                <a:schemeClr val="tx1"/>
              </a:solidFill>
              <a:latin typeface="+mj-lt"/>
              <a:ea typeface="+mj-ea"/>
              <a:cs typeface="+mj-cs"/>
              <a:sym typeface="Oswald Bold"/>
            </a:endParaRPr>
          </a:p>
        </p:txBody>
      </p:sp>
      <p:sp>
        <p:nvSpPr>
          <p:cNvPr id="14" name="TextBox 13">
            <a:extLst>
              <a:ext uri="{FF2B5EF4-FFF2-40B4-BE49-F238E27FC236}">
                <a16:creationId xmlns:a16="http://schemas.microsoft.com/office/drawing/2014/main" id="{A8ED7430-598D-FDD7-9C7A-1157CDF8CB76}"/>
              </a:ext>
            </a:extLst>
          </p:cNvPr>
          <p:cNvSpPr txBox="1"/>
          <p:nvPr/>
        </p:nvSpPr>
        <p:spPr>
          <a:xfrm>
            <a:off x="4648200" y="342901"/>
            <a:ext cx="13106400" cy="2743200"/>
          </a:xfrm>
          <a:prstGeom prst="rect">
            <a:avLst/>
          </a:prstGeom>
        </p:spPr>
        <p:txBody>
          <a:bodyPr vert="horz" lIns="91440" tIns="45720" rIns="91440" bIns="45720" rtlCol="0" anchor="ctr">
            <a:noAutofit/>
          </a:bodyPr>
          <a:lstStyle/>
          <a:p>
            <a:pPr marL="457200" indent="-457200" fontAlgn="base">
              <a:lnSpc>
                <a:spcPct val="90000"/>
              </a:lnSpc>
              <a:spcAft>
                <a:spcPts val="600"/>
              </a:spcAft>
              <a:buFont typeface="Wingdings" panose="05000000000000000000" pitchFamily="2" charset="2"/>
              <a:buChar char="§"/>
            </a:pPr>
            <a:r>
              <a:rPr lang="en-US" sz="2800" dirty="0"/>
              <a:t> The Excel dashboard displays Total Projects by Category, allowing us to quickly identify the categories with the highest project volume and the most active creators.</a:t>
            </a:r>
          </a:p>
          <a:p>
            <a:pPr marL="228600" lvl="1" fontAlgn="base">
              <a:lnSpc>
                <a:spcPct val="90000"/>
              </a:lnSpc>
              <a:spcAft>
                <a:spcPts val="600"/>
              </a:spcAft>
            </a:pPr>
            <a:endParaRPr lang="en-US" altLang="en-US" sz="2400" dirty="0"/>
          </a:p>
          <a:p>
            <a:pPr marL="571500" lvl="1" indent="-342900" fontAlgn="base">
              <a:lnSpc>
                <a:spcPct val="90000"/>
              </a:lnSpc>
              <a:spcAft>
                <a:spcPts val="600"/>
              </a:spcAft>
              <a:buFont typeface="Wingdings" panose="05000000000000000000" pitchFamily="2" charset="2"/>
              <a:buChar char="§"/>
            </a:pPr>
            <a:r>
              <a:rPr lang="en-US" altLang="en-US" sz="2400" dirty="0"/>
              <a:t> </a:t>
            </a:r>
            <a:r>
              <a:rPr lang="en-US" sz="2800" dirty="0"/>
              <a:t>It also visualizes Total Projects by Outcome (successful, failed, canceled), providing a clear overview of overall project performance and highlighting the most common results across the dataset.</a:t>
            </a:r>
          </a:p>
        </p:txBody>
      </p:sp>
      <p:pic>
        <p:nvPicPr>
          <p:cNvPr id="4" name="Picture 3">
            <a:extLst>
              <a:ext uri="{FF2B5EF4-FFF2-40B4-BE49-F238E27FC236}">
                <a16:creationId xmlns:a16="http://schemas.microsoft.com/office/drawing/2014/main" id="{B239CE1E-2B29-E72C-4B7F-FC62CB8912E4}"/>
              </a:ext>
            </a:extLst>
          </p:cNvPr>
          <p:cNvPicPr>
            <a:picLocks noChangeAspect="1"/>
          </p:cNvPicPr>
          <p:nvPr/>
        </p:nvPicPr>
        <p:blipFill>
          <a:blip r:embed="rId2"/>
          <a:stretch>
            <a:fillRect/>
          </a:stretch>
        </p:blipFill>
        <p:spPr>
          <a:xfrm>
            <a:off x="325852" y="3467100"/>
            <a:ext cx="17428748" cy="6248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304799" y="194983"/>
            <a:ext cx="5370818" cy="112731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u="sng" kern="1200" dirty="0">
                <a:solidFill>
                  <a:schemeClr val="tx1"/>
                </a:solidFill>
                <a:latin typeface="+mj-lt"/>
                <a:ea typeface="+mj-ea"/>
                <a:cs typeface="+mj-cs"/>
              </a:rPr>
              <a:t>Power BI Insights</a:t>
            </a:r>
            <a:endParaRPr lang="en-US" sz="5400" b="1" u="sng" kern="1200" dirty="0">
              <a:solidFill>
                <a:schemeClr val="tx1"/>
              </a:solidFill>
              <a:latin typeface="+mj-lt"/>
              <a:ea typeface="+mj-ea"/>
              <a:cs typeface="+mj-cs"/>
              <a:sym typeface="Oswald Bold"/>
            </a:endParaRPr>
          </a:p>
        </p:txBody>
      </p:sp>
      <p:sp>
        <p:nvSpPr>
          <p:cNvPr id="12" name="TextBox 11">
            <a:extLst>
              <a:ext uri="{FF2B5EF4-FFF2-40B4-BE49-F238E27FC236}">
                <a16:creationId xmlns:a16="http://schemas.microsoft.com/office/drawing/2014/main" id="{0D8FFF27-F933-FF16-FC80-FDB877FDEDAB}"/>
              </a:ext>
            </a:extLst>
          </p:cNvPr>
          <p:cNvSpPr txBox="1"/>
          <p:nvPr/>
        </p:nvSpPr>
        <p:spPr>
          <a:xfrm>
            <a:off x="304799" y="1665195"/>
            <a:ext cx="5927463" cy="8202706"/>
          </a:xfrm>
          <a:prstGeom prst="rect">
            <a:avLst/>
          </a:prstGeom>
        </p:spPr>
        <p:txBody>
          <a:bodyPr vert="horz" lIns="91440" tIns="45720" rIns="91440" bIns="45720" rtlCol="0">
            <a:normAutofit/>
          </a:bodyPr>
          <a:lstStyle/>
          <a:p>
            <a:pPr marL="457200" lvl="0" indent="-457200" fontAlgn="base">
              <a:lnSpc>
                <a:spcPct val="90000"/>
              </a:lnSpc>
              <a:spcBef>
                <a:spcPct val="0"/>
              </a:spcBef>
              <a:spcAft>
                <a:spcPts val="600"/>
              </a:spcAft>
              <a:buFont typeface="Wingdings" panose="05000000000000000000" pitchFamily="2" charset="2"/>
              <a:buChar char="§"/>
            </a:pPr>
            <a:r>
              <a:rPr lang="en-US" altLang="en-US" sz="2400" dirty="0"/>
              <a:t>The Power BI dashboard highlights Top Successful Projects along with the Amount.</a:t>
            </a:r>
          </a:p>
          <a:p>
            <a:pPr lvl="0" fontAlgn="base">
              <a:lnSpc>
                <a:spcPct val="90000"/>
              </a:lnSpc>
              <a:spcBef>
                <a:spcPct val="0"/>
              </a:spcBef>
              <a:spcAft>
                <a:spcPts val="600"/>
              </a:spcAft>
            </a:pPr>
            <a:endParaRPr lang="en-US" altLang="en-US" sz="2400" dirty="0"/>
          </a:p>
          <a:p>
            <a:pPr marL="457200" lvl="0" indent="-457200" fontAlgn="base">
              <a:lnSpc>
                <a:spcPct val="90000"/>
              </a:lnSpc>
              <a:spcBef>
                <a:spcPct val="0"/>
              </a:spcBef>
              <a:spcAft>
                <a:spcPts val="600"/>
              </a:spcAft>
              <a:buFont typeface="Wingdings" panose="05000000000000000000" pitchFamily="2" charset="2"/>
              <a:buChar char="§"/>
            </a:pPr>
            <a:r>
              <a:rPr lang="en-US" sz="2400" dirty="0"/>
              <a:t>Raised, providing an instant view of the highest-funded campaigns</a:t>
            </a:r>
          </a:p>
          <a:p>
            <a:pPr lvl="0" fontAlgn="base">
              <a:lnSpc>
                <a:spcPct val="90000"/>
              </a:lnSpc>
              <a:spcBef>
                <a:spcPct val="0"/>
              </a:spcBef>
              <a:spcAft>
                <a:spcPts val="600"/>
              </a:spcAft>
            </a:pPr>
            <a:endParaRPr lang="en-US" sz="2400" dirty="0"/>
          </a:p>
          <a:p>
            <a:pPr marL="457200" lvl="0" indent="-457200" fontAlgn="base">
              <a:lnSpc>
                <a:spcPct val="90000"/>
              </a:lnSpc>
              <a:spcBef>
                <a:spcPct val="0"/>
              </a:spcBef>
              <a:spcAft>
                <a:spcPts val="600"/>
              </a:spcAft>
              <a:buFont typeface="Wingdings" panose="05000000000000000000" pitchFamily="2" charset="2"/>
              <a:buChar char="§"/>
            </a:pPr>
            <a:r>
              <a:rPr lang="en-US" altLang="en-US" sz="2400" dirty="0"/>
              <a:t> </a:t>
            </a:r>
            <a:r>
              <a:rPr lang="en-US" sz="2400" dirty="0"/>
              <a:t>It also displays Top Projects by Backer Count, highlighting the ideas that attract the most support.</a:t>
            </a:r>
          </a:p>
          <a:p>
            <a:pPr lvl="0" fontAlgn="base">
              <a:lnSpc>
                <a:spcPct val="90000"/>
              </a:lnSpc>
              <a:spcBef>
                <a:spcPct val="0"/>
              </a:spcBef>
              <a:spcAft>
                <a:spcPts val="600"/>
              </a:spcAft>
            </a:pPr>
            <a:endParaRPr lang="en-US" sz="2400" dirty="0"/>
          </a:p>
          <a:p>
            <a:pPr marL="457200" lvl="0" indent="-457200" fontAlgn="base">
              <a:lnSpc>
                <a:spcPct val="90000"/>
              </a:lnSpc>
              <a:spcBef>
                <a:spcPct val="0"/>
              </a:spcBef>
              <a:spcAft>
                <a:spcPts val="600"/>
              </a:spcAft>
              <a:buFont typeface="Wingdings" panose="05000000000000000000" pitchFamily="2" charset="2"/>
              <a:buChar char="§"/>
            </a:pPr>
            <a:r>
              <a:rPr lang="en-US" sz="2400" dirty="0"/>
              <a:t>Received the highest level of community support</a:t>
            </a:r>
            <a:r>
              <a:rPr lang="en-US" altLang="en-US" sz="2400" dirty="0"/>
              <a:t>.</a:t>
            </a:r>
          </a:p>
          <a:p>
            <a:pPr lvl="0" fontAlgn="base">
              <a:lnSpc>
                <a:spcPct val="90000"/>
              </a:lnSpc>
              <a:spcBef>
                <a:spcPct val="0"/>
              </a:spcBef>
              <a:spcAft>
                <a:spcPts val="600"/>
              </a:spcAft>
            </a:pPr>
            <a:endParaRPr lang="en-US" altLang="en-US" sz="2400" dirty="0"/>
          </a:p>
          <a:p>
            <a:pPr marL="457200" lvl="0" indent="-457200" fontAlgn="base">
              <a:lnSpc>
                <a:spcPct val="90000"/>
              </a:lnSpc>
              <a:spcBef>
                <a:spcPct val="0"/>
              </a:spcBef>
              <a:spcAft>
                <a:spcPts val="600"/>
              </a:spcAft>
              <a:buFont typeface="Wingdings" panose="05000000000000000000" pitchFamily="2" charset="2"/>
              <a:buChar char="§"/>
            </a:pPr>
            <a:r>
              <a:rPr lang="en-US" altLang="en-US" sz="2400" dirty="0"/>
              <a:t>I</a:t>
            </a:r>
            <a:r>
              <a:rPr lang="en-US" sz="2400" dirty="0"/>
              <a:t>nteractive slicers and drill-downs allow users to filter insights by category and country</a:t>
            </a:r>
            <a:r>
              <a:rPr lang="en-US" altLang="en-US" sz="2400" dirty="0"/>
              <a:t>.</a:t>
            </a:r>
          </a:p>
          <a:p>
            <a:pPr lvl="0" indent="-228600" fontAlgn="base">
              <a:lnSpc>
                <a:spcPct val="90000"/>
              </a:lnSpc>
              <a:spcBef>
                <a:spcPct val="0"/>
              </a:spcBef>
              <a:spcAft>
                <a:spcPts val="600"/>
              </a:spcAft>
              <a:buFont typeface="Arial" panose="020B0604020202020204" pitchFamily="34" charset="0"/>
              <a:buChar char="•"/>
            </a:pPr>
            <a:endParaRPr lang="en-US" altLang="en-US" sz="2400" dirty="0"/>
          </a:p>
          <a:p>
            <a:pPr marL="457200" lvl="0" indent="-457200" fontAlgn="base">
              <a:lnSpc>
                <a:spcPct val="90000"/>
              </a:lnSpc>
              <a:spcBef>
                <a:spcPct val="0"/>
              </a:spcBef>
              <a:spcAft>
                <a:spcPts val="600"/>
              </a:spcAft>
              <a:buFont typeface="Wingdings" panose="05000000000000000000" pitchFamily="2" charset="2"/>
              <a:buChar char="§"/>
            </a:pPr>
            <a:r>
              <a:rPr lang="en-US" sz="2400" dirty="0"/>
              <a:t>Goal range, and project status to enable deeper analysis</a:t>
            </a:r>
            <a:r>
              <a:rPr lang="en-US" altLang="en-US" sz="2400" dirty="0"/>
              <a:t>.</a:t>
            </a:r>
          </a:p>
          <a:p>
            <a:pPr indent="-228600">
              <a:lnSpc>
                <a:spcPct val="90000"/>
              </a:lnSpc>
              <a:spcAft>
                <a:spcPts val="600"/>
              </a:spcAft>
              <a:buFont typeface="Arial" panose="020B0604020202020204" pitchFamily="34" charset="0"/>
              <a:buChar char="•"/>
            </a:pPr>
            <a:endParaRPr lang="en-US" sz="2800" dirty="0"/>
          </a:p>
        </p:txBody>
      </p:sp>
      <p:pic>
        <p:nvPicPr>
          <p:cNvPr id="4" name="Picture 3">
            <a:extLst>
              <a:ext uri="{FF2B5EF4-FFF2-40B4-BE49-F238E27FC236}">
                <a16:creationId xmlns:a16="http://schemas.microsoft.com/office/drawing/2014/main" id="{C8C697F9-1656-2A1C-B8B2-CA6F70761543}"/>
              </a:ext>
            </a:extLst>
          </p:cNvPr>
          <p:cNvPicPr>
            <a:picLocks noChangeAspect="1"/>
          </p:cNvPicPr>
          <p:nvPr/>
        </p:nvPicPr>
        <p:blipFill>
          <a:blip r:embed="rId2"/>
          <a:stretch>
            <a:fillRect/>
          </a:stretch>
        </p:blipFill>
        <p:spPr>
          <a:xfrm>
            <a:off x="6232263" y="342900"/>
            <a:ext cx="11750937" cy="9525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CD8F4-08CE-9509-CB3B-ACC75F0F71F7}"/>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368C64D1-5364-9084-33E0-E4D691C72D46}"/>
              </a:ext>
            </a:extLst>
          </p:cNvPr>
          <p:cNvSpPr txBox="1"/>
          <p:nvPr/>
        </p:nvSpPr>
        <p:spPr>
          <a:xfrm>
            <a:off x="8382000" y="-405877"/>
            <a:ext cx="4928959" cy="1129284"/>
          </a:xfrm>
          <a:prstGeom prst="rect">
            <a:avLst/>
          </a:prstGeom>
        </p:spPr>
        <p:txBody>
          <a:bodyPr wrap="square" lIns="0" tIns="0" rIns="0" bIns="0" rtlCol="0" anchor="t">
            <a:spAutoFit/>
          </a:bodyPr>
          <a:lstStyle/>
          <a:p>
            <a:pPr algn="ctr">
              <a:lnSpc>
                <a:spcPts val="10500"/>
              </a:lnSpc>
            </a:pPr>
            <a:r>
              <a:rPr lang="en-IN" sz="4000" u="sng" dirty="0">
                <a:latin typeface="Arial" panose="020B0604020202020204" pitchFamily="34" charset="0"/>
                <a:cs typeface="Arial" panose="020B0604020202020204" pitchFamily="34" charset="0"/>
              </a:rPr>
              <a:t>Tableau Insights</a:t>
            </a:r>
            <a:endParaRPr lang="en-US" sz="4000" b="1" u="sng" dirty="0">
              <a:solidFill>
                <a:srgbClr val="7688C1"/>
              </a:solidFill>
              <a:latin typeface="Oswald Bold"/>
              <a:ea typeface="Oswald Bold"/>
              <a:cs typeface="Oswald Bold"/>
              <a:sym typeface="Oswald Bold"/>
            </a:endParaRPr>
          </a:p>
        </p:txBody>
      </p:sp>
      <p:sp>
        <p:nvSpPr>
          <p:cNvPr id="24" name="TextBox 24">
            <a:extLst>
              <a:ext uri="{FF2B5EF4-FFF2-40B4-BE49-F238E27FC236}">
                <a16:creationId xmlns:a16="http://schemas.microsoft.com/office/drawing/2014/main" id="{57AD6978-4C26-D52F-62E7-D6DC7BF8C811}"/>
              </a:ext>
            </a:extLst>
          </p:cNvPr>
          <p:cNvSpPr txBox="1"/>
          <p:nvPr/>
        </p:nvSpPr>
        <p:spPr>
          <a:xfrm>
            <a:off x="1048260" y="3392608"/>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1</a:t>
            </a:r>
          </a:p>
        </p:txBody>
      </p:sp>
      <p:sp>
        <p:nvSpPr>
          <p:cNvPr id="25" name="TextBox 25">
            <a:extLst>
              <a:ext uri="{FF2B5EF4-FFF2-40B4-BE49-F238E27FC236}">
                <a16:creationId xmlns:a16="http://schemas.microsoft.com/office/drawing/2014/main" id="{F2EDE40F-F991-7030-7767-9ACEFC4973FE}"/>
              </a:ext>
            </a:extLst>
          </p:cNvPr>
          <p:cNvSpPr txBox="1"/>
          <p:nvPr/>
        </p:nvSpPr>
        <p:spPr>
          <a:xfrm>
            <a:off x="9373646" y="3448995"/>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2</a:t>
            </a:r>
          </a:p>
        </p:txBody>
      </p:sp>
      <p:sp>
        <p:nvSpPr>
          <p:cNvPr id="26" name="TextBox 26">
            <a:extLst>
              <a:ext uri="{FF2B5EF4-FFF2-40B4-BE49-F238E27FC236}">
                <a16:creationId xmlns:a16="http://schemas.microsoft.com/office/drawing/2014/main" id="{C4634E2D-E117-8C40-68A9-DF584222A23B}"/>
              </a:ext>
            </a:extLst>
          </p:cNvPr>
          <p:cNvSpPr txBox="1"/>
          <p:nvPr/>
        </p:nvSpPr>
        <p:spPr>
          <a:xfrm>
            <a:off x="1063500" y="6092097"/>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3</a:t>
            </a:r>
          </a:p>
        </p:txBody>
      </p:sp>
      <p:sp>
        <p:nvSpPr>
          <p:cNvPr id="32" name="TextBox 32">
            <a:extLst>
              <a:ext uri="{FF2B5EF4-FFF2-40B4-BE49-F238E27FC236}">
                <a16:creationId xmlns:a16="http://schemas.microsoft.com/office/drawing/2014/main" id="{08CF8DA5-5163-F470-46AD-B8F0187D4369}"/>
              </a:ext>
            </a:extLst>
          </p:cNvPr>
          <p:cNvSpPr txBox="1"/>
          <p:nvPr/>
        </p:nvSpPr>
        <p:spPr>
          <a:xfrm>
            <a:off x="9879560" y="7409589"/>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6</a:t>
            </a:r>
          </a:p>
        </p:txBody>
      </p:sp>
      <p:sp>
        <p:nvSpPr>
          <p:cNvPr id="2" name="TextBox 1">
            <a:extLst>
              <a:ext uri="{FF2B5EF4-FFF2-40B4-BE49-F238E27FC236}">
                <a16:creationId xmlns:a16="http://schemas.microsoft.com/office/drawing/2014/main" id="{F8687D47-567B-4A84-CF1F-A225CE90F31C}"/>
              </a:ext>
            </a:extLst>
          </p:cNvPr>
          <p:cNvSpPr txBox="1"/>
          <p:nvPr/>
        </p:nvSpPr>
        <p:spPr>
          <a:xfrm>
            <a:off x="152400" y="342900"/>
            <a:ext cx="5479714" cy="8899039"/>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400" dirty="0"/>
              <a:t>The Tableau dashboard highlights the % of Successful Projects across different Goal Ranges, making it easy to see which funding targets perform best.</a:t>
            </a:r>
          </a:p>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400" dirty="0"/>
              <a:t> It includes a Year-wise, Quarter-wise, and Month-wise trend analysis, clearly showing how project success changes over time.</a:t>
            </a:r>
          </a:p>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400" dirty="0"/>
              <a:t> Users can interact with filters for category, country, and goal range to explore deeper patterns and seasonal behaviors.</a:t>
            </a:r>
          </a:p>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400" dirty="0"/>
              <a:t> The dashboard provides a strong visual story of how timing and goal strategy impact project success, supporting better data-driven decisions</a:t>
            </a:r>
            <a:endParaRPr lang="en-IN" sz="2400" dirty="0"/>
          </a:p>
        </p:txBody>
      </p:sp>
      <p:pic>
        <p:nvPicPr>
          <p:cNvPr id="4" name="Picture 3">
            <a:extLst>
              <a:ext uri="{FF2B5EF4-FFF2-40B4-BE49-F238E27FC236}">
                <a16:creationId xmlns:a16="http://schemas.microsoft.com/office/drawing/2014/main" id="{7A95DA89-251E-2785-FBB0-7D3CFBB997DC}"/>
              </a:ext>
            </a:extLst>
          </p:cNvPr>
          <p:cNvPicPr>
            <a:picLocks noChangeAspect="1"/>
          </p:cNvPicPr>
          <p:nvPr/>
        </p:nvPicPr>
        <p:blipFill>
          <a:blip r:embed="rId2"/>
          <a:stretch>
            <a:fillRect/>
          </a:stretch>
        </p:blipFill>
        <p:spPr>
          <a:xfrm>
            <a:off x="6172200" y="1365370"/>
            <a:ext cx="11734801" cy="8350130"/>
          </a:xfrm>
          <a:prstGeom prst="rect">
            <a:avLst/>
          </a:prstGeom>
        </p:spPr>
      </p:pic>
    </p:spTree>
    <p:extLst>
      <p:ext uri="{BB962C8B-B14F-4D97-AF65-F5344CB8AC3E}">
        <p14:creationId xmlns:p14="http://schemas.microsoft.com/office/powerpoint/2010/main" val="1399357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16A0D-60CB-60FE-35DD-2461E4256666}"/>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C2A3477A-DD6F-EBF4-DDC2-B45C8F2FE2DC}"/>
              </a:ext>
            </a:extLst>
          </p:cNvPr>
          <p:cNvSpPr txBox="1"/>
          <p:nvPr/>
        </p:nvSpPr>
        <p:spPr>
          <a:xfrm>
            <a:off x="304801" y="197819"/>
            <a:ext cx="4267200" cy="1153136"/>
          </a:xfrm>
          <a:prstGeom prst="rect">
            <a:avLst/>
          </a:prstGeom>
        </p:spPr>
        <p:txBody>
          <a:bodyPr wrap="square" lIns="0" tIns="0" rIns="0" bIns="0" rtlCol="0" anchor="t">
            <a:spAutoFit/>
          </a:bodyPr>
          <a:lstStyle/>
          <a:p>
            <a:pPr algn="ctr">
              <a:lnSpc>
                <a:spcPts val="10500"/>
              </a:lnSpc>
            </a:pPr>
            <a:r>
              <a:rPr lang="en-IN" sz="4800" dirty="0">
                <a:latin typeface="Arial" panose="020B0604020202020204" pitchFamily="34" charset="0"/>
                <a:cs typeface="Arial" panose="020B0604020202020204" pitchFamily="34" charset="0"/>
              </a:rPr>
              <a:t>SQL Analysis</a:t>
            </a:r>
            <a:endParaRPr lang="en-US" sz="4800" b="1" dirty="0">
              <a:solidFill>
                <a:srgbClr val="7688C1"/>
              </a:solidFill>
              <a:latin typeface="Oswald Bold"/>
              <a:ea typeface="Oswald Bold"/>
              <a:cs typeface="Oswald Bold"/>
              <a:sym typeface="Oswald Bold"/>
            </a:endParaRPr>
          </a:p>
        </p:txBody>
      </p:sp>
      <p:sp>
        <p:nvSpPr>
          <p:cNvPr id="24" name="TextBox 24">
            <a:extLst>
              <a:ext uri="{FF2B5EF4-FFF2-40B4-BE49-F238E27FC236}">
                <a16:creationId xmlns:a16="http://schemas.microsoft.com/office/drawing/2014/main" id="{8A22F4DD-AE6C-08D1-ADB1-DA93DD0BC400}"/>
              </a:ext>
            </a:extLst>
          </p:cNvPr>
          <p:cNvSpPr txBox="1"/>
          <p:nvPr/>
        </p:nvSpPr>
        <p:spPr>
          <a:xfrm>
            <a:off x="1048260" y="3392608"/>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1</a:t>
            </a:r>
          </a:p>
        </p:txBody>
      </p:sp>
      <p:sp>
        <p:nvSpPr>
          <p:cNvPr id="25" name="TextBox 25">
            <a:extLst>
              <a:ext uri="{FF2B5EF4-FFF2-40B4-BE49-F238E27FC236}">
                <a16:creationId xmlns:a16="http://schemas.microsoft.com/office/drawing/2014/main" id="{6B0923D0-31CF-5844-CA39-C8F860CDD1BA}"/>
              </a:ext>
            </a:extLst>
          </p:cNvPr>
          <p:cNvSpPr txBox="1"/>
          <p:nvPr/>
        </p:nvSpPr>
        <p:spPr>
          <a:xfrm>
            <a:off x="9373646" y="3448995"/>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2</a:t>
            </a:r>
          </a:p>
        </p:txBody>
      </p:sp>
      <p:sp>
        <p:nvSpPr>
          <p:cNvPr id="26" name="TextBox 26">
            <a:extLst>
              <a:ext uri="{FF2B5EF4-FFF2-40B4-BE49-F238E27FC236}">
                <a16:creationId xmlns:a16="http://schemas.microsoft.com/office/drawing/2014/main" id="{9C3416D5-A9F4-0283-9FB8-A7097CD519A7}"/>
              </a:ext>
            </a:extLst>
          </p:cNvPr>
          <p:cNvSpPr txBox="1"/>
          <p:nvPr/>
        </p:nvSpPr>
        <p:spPr>
          <a:xfrm>
            <a:off x="1063500" y="6092097"/>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3</a:t>
            </a:r>
          </a:p>
        </p:txBody>
      </p:sp>
      <p:sp>
        <p:nvSpPr>
          <p:cNvPr id="32" name="TextBox 32">
            <a:extLst>
              <a:ext uri="{FF2B5EF4-FFF2-40B4-BE49-F238E27FC236}">
                <a16:creationId xmlns:a16="http://schemas.microsoft.com/office/drawing/2014/main" id="{F6611119-C0AB-D191-AA34-6978D7E8BFF9}"/>
              </a:ext>
            </a:extLst>
          </p:cNvPr>
          <p:cNvSpPr txBox="1"/>
          <p:nvPr/>
        </p:nvSpPr>
        <p:spPr>
          <a:xfrm>
            <a:off x="9879560" y="7409589"/>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6</a:t>
            </a:r>
          </a:p>
        </p:txBody>
      </p:sp>
      <p:sp>
        <p:nvSpPr>
          <p:cNvPr id="11" name="TextBox 10">
            <a:extLst>
              <a:ext uri="{FF2B5EF4-FFF2-40B4-BE49-F238E27FC236}">
                <a16:creationId xmlns:a16="http://schemas.microsoft.com/office/drawing/2014/main" id="{D8253C8A-3BC4-E559-072C-37C8630F0D34}"/>
              </a:ext>
            </a:extLst>
          </p:cNvPr>
          <p:cNvSpPr txBox="1"/>
          <p:nvPr/>
        </p:nvSpPr>
        <p:spPr>
          <a:xfrm>
            <a:off x="10061700" y="6705418"/>
            <a:ext cx="7769100" cy="2932341"/>
          </a:xfrm>
          <a:prstGeom prst="rect">
            <a:avLst/>
          </a:prstGeom>
          <a:noFill/>
        </p:spPr>
        <p:txBody>
          <a:bodyPr wrap="square" rtlCol="0">
            <a:spAutoFit/>
          </a:bodyPr>
          <a:lstStyle/>
          <a:p>
            <a:pPr marL="342900" lvl="0" indent="-342900" eaLnBrk="0" fontAlgn="base" hangingPunct="0">
              <a:lnSpc>
                <a:spcPct val="200000"/>
              </a:lnSpc>
              <a:spcBef>
                <a:spcPct val="0"/>
              </a:spcBef>
              <a:spcAft>
                <a:spcPct val="0"/>
              </a:spcAft>
              <a:buFont typeface="Wingdings" panose="05000000000000000000" pitchFamily="2" charset="2"/>
              <a:buChar char="§"/>
            </a:pPr>
            <a:r>
              <a:rPr lang="en-US" altLang="en-US" sz="2400" dirty="0">
                <a:latin typeface="Arial" panose="020B0604020202020204" pitchFamily="34" charset="0"/>
              </a:rPr>
              <a:t>Querying for filtered insights: e.g., % of Successful Projects Overall &amp; Top Successful Projects based on Amount.</a:t>
            </a:r>
          </a:p>
          <a:p>
            <a:pPr lvl="0" eaLnBrk="0" fontAlgn="base" hangingPunct="0">
              <a:lnSpc>
                <a:spcPct val="200000"/>
              </a:lnSpc>
              <a:spcBef>
                <a:spcPct val="0"/>
              </a:spcBef>
              <a:spcAft>
                <a:spcPct val="0"/>
              </a:spcAft>
              <a:buFont typeface="Arial" panose="020B0604020202020204" pitchFamily="34" charset="0"/>
              <a:buChar char="•"/>
            </a:pPr>
            <a:r>
              <a:rPr lang="en-US" altLang="en-US" sz="2400" b="1" dirty="0">
                <a:latin typeface="Arial" panose="020B0604020202020204" pitchFamily="34" charset="0"/>
              </a:rPr>
              <a:t>Visual:</a:t>
            </a:r>
            <a:r>
              <a:rPr lang="en-US" altLang="en-US" sz="2400" dirty="0">
                <a:latin typeface="Arial" panose="020B0604020202020204" pitchFamily="34" charset="0"/>
              </a:rPr>
              <a:t> SQL query snippet + small table of results</a:t>
            </a:r>
          </a:p>
        </p:txBody>
      </p:sp>
      <p:pic>
        <p:nvPicPr>
          <p:cNvPr id="3" name="Content Placeholder 4">
            <a:extLst>
              <a:ext uri="{FF2B5EF4-FFF2-40B4-BE49-F238E27FC236}">
                <a16:creationId xmlns:a16="http://schemas.microsoft.com/office/drawing/2014/main" id="{B3E8B43C-801D-4611-1568-F48E3579426D}"/>
              </a:ext>
            </a:extLst>
          </p:cNvPr>
          <p:cNvPicPr>
            <a:picLocks noChangeAspect="1"/>
          </p:cNvPicPr>
          <p:nvPr/>
        </p:nvPicPr>
        <p:blipFill>
          <a:blip r:embed="rId2"/>
          <a:stretch>
            <a:fillRect/>
          </a:stretch>
        </p:blipFill>
        <p:spPr>
          <a:xfrm>
            <a:off x="9511455" y="471827"/>
            <a:ext cx="8439087" cy="5954335"/>
          </a:xfrm>
          <a:prstGeom prst="rect">
            <a:avLst/>
          </a:prstGeom>
        </p:spPr>
      </p:pic>
      <p:pic>
        <p:nvPicPr>
          <p:cNvPr id="4" name="Picture 3">
            <a:extLst>
              <a:ext uri="{FF2B5EF4-FFF2-40B4-BE49-F238E27FC236}">
                <a16:creationId xmlns:a16="http://schemas.microsoft.com/office/drawing/2014/main" id="{FEFBCB22-22CB-9722-F6A9-C6478EAE27FD}"/>
              </a:ext>
            </a:extLst>
          </p:cNvPr>
          <p:cNvPicPr>
            <a:picLocks noChangeAspect="1"/>
          </p:cNvPicPr>
          <p:nvPr/>
        </p:nvPicPr>
        <p:blipFill>
          <a:blip r:embed="rId3"/>
          <a:stretch>
            <a:fillRect/>
          </a:stretch>
        </p:blipFill>
        <p:spPr>
          <a:xfrm>
            <a:off x="152400" y="2122838"/>
            <a:ext cx="8761955" cy="6602061"/>
          </a:xfrm>
          <a:prstGeom prst="rect">
            <a:avLst/>
          </a:prstGeom>
        </p:spPr>
      </p:pic>
    </p:spTree>
    <p:extLst>
      <p:ext uri="{BB962C8B-B14F-4D97-AF65-F5344CB8AC3E}">
        <p14:creationId xmlns:p14="http://schemas.microsoft.com/office/powerpoint/2010/main" val="426059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12063-6FB9-732A-612E-298F3F60A2EE}"/>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4BA571B5-F11E-75D4-7388-0D48E9412A2D}"/>
              </a:ext>
            </a:extLst>
          </p:cNvPr>
          <p:cNvGrpSpPr/>
          <p:nvPr/>
        </p:nvGrpSpPr>
        <p:grpSpPr>
          <a:xfrm rot="-10800000">
            <a:off x="-41583" y="9265637"/>
            <a:ext cx="18440400" cy="1021363"/>
            <a:chOff x="0" y="0"/>
            <a:chExt cx="30417241" cy="4659653"/>
          </a:xfrm>
        </p:grpSpPr>
        <p:sp>
          <p:nvSpPr>
            <p:cNvPr id="8" name="Freeform 8">
              <a:extLst>
                <a:ext uri="{FF2B5EF4-FFF2-40B4-BE49-F238E27FC236}">
                  <a16:creationId xmlns:a16="http://schemas.microsoft.com/office/drawing/2014/main" id="{69C5B507-C2EE-7937-9133-9BEA1F9C334A}"/>
                </a:ext>
              </a:extLst>
            </p:cNvPr>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451CECEF-3E02-742F-094E-13571473BA2F}"/>
                </a:ext>
              </a:extLst>
            </p:cNvPr>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C4DD9B13-FBDD-1481-2598-C9274A152FC0}"/>
                </a:ext>
              </a:extLst>
            </p:cNvPr>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grpSp>
        <p:nvGrpSpPr>
          <p:cNvPr id="11" name="Group 11">
            <a:extLst>
              <a:ext uri="{FF2B5EF4-FFF2-40B4-BE49-F238E27FC236}">
                <a16:creationId xmlns:a16="http://schemas.microsoft.com/office/drawing/2014/main" id="{CF0ED961-F87F-9B21-819A-54CCBEAA3717}"/>
              </a:ext>
            </a:extLst>
          </p:cNvPr>
          <p:cNvGrpSpPr/>
          <p:nvPr/>
        </p:nvGrpSpPr>
        <p:grpSpPr>
          <a:xfrm>
            <a:off x="-139908" y="-876300"/>
            <a:ext cx="18440400" cy="1021363"/>
            <a:chOff x="0" y="0"/>
            <a:chExt cx="30417241" cy="4659653"/>
          </a:xfrm>
        </p:grpSpPr>
        <p:sp>
          <p:nvSpPr>
            <p:cNvPr id="12" name="Freeform 12">
              <a:extLst>
                <a:ext uri="{FF2B5EF4-FFF2-40B4-BE49-F238E27FC236}">
                  <a16:creationId xmlns:a16="http://schemas.microsoft.com/office/drawing/2014/main" id="{0910C46B-9808-B066-0E9E-6FE0083C054F}"/>
                </a:ext>
              </a:extLst>
            </p:cNvPr>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Freeform 13">
              <a:extLst>
                <a:ext uri="{FF2B5EF4-FFF2-40B4-BE49-F238E27FC236}">
                  <a16:creationId xmlns:a16="http://schemas.microsoft.com/office/drawing/2014/main" id="{B482C96D-4EB4-CEEE-04E2-C041E0E426E5}"/>
                </a:ext>
              </a:extLst>
            </p:cNvPr>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a:extLst>
                <a:ext uri="{FF2B5EF4-FFF2-40B4-BE49-F238E27FC236}">
                  <a16:creationId xmlns:a16="http://schemas.microsoft.com/office/drawing/2014/main" id="{513E5D5A-34C0-3203-0F10-04094C21D625}"/>
                </a:ext>
              </a:extLst>
            </p:cNvPr>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sp>
        <p:nvSpPr>
          <p:cNvPr id="15" name="TextBox 15">
            <a:extLst>
              <a:ext uri="{FF2B5EF4-FFF2-40B4-BE49-F238E27FC236}">
                <a16:creationId xmlns:a16="http://schemas.microsoft.com/office/drawing/2014/main" id="{7469C9A8-5316-C235-377B-03252E15C02E}"/>
              </a:ext>
            </a:extLst>
          </p:cNvPr>
          <p:cNvSpPr txBox="1"/>
          <p:nvPr/>
        </p:nvSpPr>
        <p:spPr>
          <a:xfrm>
            <a:off x="3738123" y="96562"/>
            <a:ext cx="7716001" cy="1171924"/>
          </a:xfrm>
          <a:prstGeom prst="rect">
            <a:avLst/>
          </a:prstGeom>
        </p:spPr>
        <p:txBody>
          <a:bodyPr wrap="square" lIns="0" tIns="0" rIns="0" bIns="0" rtlCol="0" anchor="t">
            <a:spAutoFit/>
          </a:bodyPr>
          <a:lstStyle/>
          <a:p>
            <a:pPr algn="ctr">
              <a:lnSpc>
                <a:spcPts val="10500"/>
              </a:lnSpc>
            </a:pPr>
            <a:r>
              <a:rPr lang="en-US" sz="5400" b="1" u="sng" dirty="0">
                <a:solidFill>
                  <a:srgbClr val="7688C1"/>
                </a:solidFill>
                <a:latin typeface="Oswald Bold"/>
                <a:ea typeface="Oswald Bold"/>
                <a:cs typeface="Oswald Bold"/>
                <a:sym typeface="Oswald Bold"/>
              </a:rPr>
              <a:t>Implementation </a:t>
            </a:r>
          </a:p>
        </p:txBody>
      </p:sp>
      <p:sp>
        <p:nvSpPr>
          <p:cNvPr id="26" name="TextBox 25">
            <a:extLst>
              <a:ext uri="{FF2B5EF4-FFF2-40B4-BE49-F238E27FC236}">
                <a16:creationId xmlns:a16="http://schemas.microsoft.com/office/drawing/2014/main" id="{46AE4B5B-8BE5-0B8E-44D1-0EDF68E62AD5}"/>
              </a:ext>
            </a:extLst>
          </p:cNvPr>
          <p:cNvSpPr txBox="1"/>
          <p:nvPr/>
        </p:nvSpPr>
        <p:spPr>
          <a:xfrm>
            <a:off x="584200" y="2174092"/>
            <a:ext cx="16535400" cy="954107"/>
          </a:xfrm>
          <a:prstGeom prst="rect">
            <a:avLst/>
          </a:prstGeom>
          <a:noFill/>
        </p:spPr>
        <p:txBody>
          <a:bodyPr wrap="square">
            <a:spAutoFit/>
          </a:bodyPr>
          <a:lstStyle/>
          <a:p>
            <a:pPr marL="285750" indent="-285750">
              <a:buFont typeface="Wingdings" panose="05000000000000000000" pitchFamily="2" charset="2"/>
              <a:buChar char="v"/>
            </a:pPr>
            <a:r>
              <a:rPr lang="en-US" sz="2400" dirty="0"/>
              <a:t> </a:t>
            </a:r>
            <a:r>
              <a:rPr lang="en-US" sz="2800" dirty="0"/>
              <a:t>Cleaned and prepared the dataset in Excel by converting epoch timestamps, creating a calendar table, and standardizing goal amounts to USD.</a:t>
            </a:r>
            <a:endParaRPr lang="en-IN" sz="2800" dirty="0"/>
          </a:p>
        </p:txBody>
      </p:sp>
      <p:sp>
        <p:nvSpPr>
          <p:cNvPr id="28" name="TextBox 27">
            <a:extLst>
              <a:ext uri="{FF2B5EF4-FFF2-40B4-BE49-F238E27FC236}">
                <a16:creationId xmlns:a16="http://schemas.microsoft.com/office/drawing/2014/main" id="{D8A4B232-C967-2EDF-5D67-2AAE7D4723AC}"/>
              </a:ext>
            </a:extLst>
          </p:cNvPr>
          <p:cNvSpPr txBox="1"/>
          <p:nvPr/>
        </p:nvSpPr>
        <p:spPr>
          <a:xfrm>
            <a:off x="584200" y="3880157"/>
            <a:ext cx="16154400" cy="523220"/>
          </a:xfrm>
          <a:prstGeom prst="rect">
            <a:avLst/>
          </a:prstGeom>
          <a:noFill/>
        </p:spPr>
        <p:txBody>
          <a:bodyPr wrap="square">
            <a:spAutoFit/>
          </a:bodyPr>
          <a:lstStyle/>
          <a:p>
            <a:pPr marL="285750" indent="-285750">
              <a:buFont typeface="Wingdings" panose="05000000000000000000" pitchFamily="2" charset="2"/>
              <a:buChar char="v"/>
            </a:pPr>
            <a:r>
              <a:rPr lang="en-US" sz="2400" dirty="0"/>
              <a:t> </a:t>
            </a:r>
            <a:r>
              <a:rPr lang="en-US" sz="2800" dirty="0"/>
              <a:t>Exported the cleaned SQL dataset to Excel, Power BI, and Tableau for advanced analysis.</a:t>
            </a:r>
            <a:endParaRPr lang="en-IN" sz="2800" dirty="0"/>
          </a:p>
        </p:txBody>
      </p:sp>
      <p:sp>
        <p:nvSpPr>
          <p:cNvPr id="30" name="TextBox 29">
            <a:extLst>
              <a:ext uri="{FF2B5EF4-FFF2-40B4-BE49-F238E27FC236}">
                <a16:creationId xmlns:a16="http://schemas.microsoft.com/office/drawing/2014/main" id="{C05CCD20-0EC6-4DAB-28F9-B11FD5053A79}"/>
              </a:ext>
            </a:extLst>
          </p:cNvPr>
          <p:cNvSpPr txBox="1"/>
          <p:nvPr/>
        </p:nvSpPr>
        <p:spPr>
          <a:xfrm>
            <a:off x="584200" y="5242811"/>
            <a:ext cx="16306800" cy="954107"/>
          </a:xfrm>
          <a:prstGeom prst="rect">
            <a:avLst/>
          </a:prstGeom>
          <a:noFill/>
        </p:spPr>
        <p:txBody>
          <a:bodyPr wrap="square">
            <a:spAutoFit/>
          </a:bodyPr>
          <a:lstStyle/>
          <a:p>
            <a:pPr marL="285750" indent="-285750">
              <a:buFont typeface="Wingdings" panose="05000000000000000000" pitchFamily="2" charset="2"/>
              <a:buChar char="v"/>
            </a:pPr>
            <a:r>
              <a:rPr lang="en-US" sz="2400" dirty="0"/>
              <a:t> </a:t>
            </a:r>
            <a:r>
              <a:rPr lang="en-US" sz="2800" dirty="0"/>
              <a:t>Built relationships, created DAX measures, and developed visual dashboards to analyze trends, project outcomes, and category performance</a:t>
            </a:r>
            <a:r>
              <a:rPr lang="en-US" sz="2400" dirty="0"/>
              <a:t>.</a:t>
            </a:r>
            <a:endParaRPr lang="en-IN" sz="2400" dirty="0"/>
          </a:p>
        </p:txBody>
      </p:sp>
      <p:sp>
        <p:nvSpPr>
          <p:cNvPr id="1024" name="TextBox 1023">
            <a:extLst>
              <a:ext uri="{FF2B5EF4-FFF2-40B4-BE49-F238E27FC236}">
                <a16:creationId xmlns:a16="http://schemas.microsoft.com/office/drawing/2014/main" id="{357B71E8-3D25-4E31-2BD0-2129EF5709A8}"/>
              </a:ext>
            </a:extLst>
          </p:cNvPr>
          <p:cNvSpPr txBox="1"/>
          <p:nvPr/>
        </p:nvSpPr>
        <p:spPr>
          <a:xfrm>
            <a:off x="584200" y="7352567"/>
            <a:ext cx="15588343" cy="523220"/>
          </a:xfrm>
          <a:prstGeom prst="rect">
            <a:avLst/>
          </a:prstGeom>
          <a:noFill/>
        </p:spPr>
        <p:txBody>
          <a:bodyPr wrap="square">
            <a:spAutoFit/>
          </a:bodyPr>
          <a:lstStyle/>
          <a:p>
            <a:pPr marL="342900" indent="-342900">
              <a:buFont typeface="Wingdings" panose="05000000000000000000" pitchFamily="2" charset="2"/>
              <a:buChar char="v"/>
            </a:pPr>
            <a:r>
              <a:rPr lang="en-US" sz="2400" dirty="0"/>
              <a:t> </a:t>
            </a:r>
            <a:r>
              <a:rPr lang="en-US" sz="2800" dirty="0"/>
              <a:t>This end-to-end workflow provided a comprehensive analytical view of the crowdfunding dataset</a:t>
            </a:r>
            <a:r>
              <a:rPr lang="en-IN" sz="2400" dirty="0"/>
              <a:t>.</a:t>
            </a:r>
          </a:p>
        </p:txBody>
      </p:sp>
    </p:spTree>
    <p:extLst>
      <p:ext uri="{BB962C8B-B14F-4D97-AF65-F5344CB8AC3E}">
        <p14:creationId xmlns:p14="http://schemas.microsoft.com/office/powerpoint/2010/main" val="3873315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DF8"/>
        </a:solidFill>
        <a:effectLst/>
      </p:bgPr>
    </p:bg>
    <p:spTree>
      <p:nvGrpSpPr>
        <p:cNvPr id="1" name=""/>
        <p:cNvGrpSpPr/>
        <p:nvPr/>
      </p:nvGrpSpPr>
      <p:grpSpPr>
        <a:xfrm>
          <a:off x="0" y="0"/>
          <a:ext cx="0" cy="0"/>
          <a:chOff x="0" y="0"/>
          <a:chExt cx="0" cy="0"/>
        </a:xfrm>
      </p:grpSpPr>
      <p:grpSp>
        <p:nvGrpSpPr>
          <p:cNvPr id="2" name="Group 2"/>
          <p:cNvGrpSpPr/>
          <p:nvPr/>
        </p:nvGrpSpPr>
        <p:grpSpPr>
          <a:xfrm>
            <a:off x="152400" y="1666767"/>
            <a:ext cx="5782752" cy="6017896"/>
            <a:chOff x="0" y="0"/>
            <a:chExt cx="8983867" cy="7287260"/>
          </a:xfrm>
        </p:grpSpPr>
        <p:grpSp>
          <p:nvGrpSpPr>
            <p:cNvPr id="3" name="Group 3"/>
            <p:cNvGrpSpPr/>
            <p:nvPr/>
          </p:nvGrpSpPr>
          <p:grpSpPr>
            <a:xfrm>
              <a:off x="292100" y="292100"/>
              <a:ext cx="8691767" cy="6995160"/>
              <a:chOff x="0" y="0"/>
              <a:chExt cx="1009937" cy="812800"/>
            </a:xfrm>
          </p:grpSpPr>
          <p:sp>
            <p:nvSpPr>
              <p:cNvPr id="4" name="Freeform 4"/>
              <p:cNvSpPr/>
              <p:nvPr/>
            </p:nvSpPr>
            <p:spPr>
              <a:xfrm>
                <a:off x="0" y="0"/>
                <a:ext cx="1009937" cy="812800"/>
              </a:xfrm>
              <a:custGeom>
                <a:avLst/>
                <a:gdLst/>
                <a:ahLst/>
                <a:cxnLst/>
                <a:rect l="l" t="t" r="r" b="b"/>
                <a:pathLst>
                  <a:path w="1009937" h="812800">
                    <a:moveTo>
                      <a:pt x="27315" y="0"/>
                    </a:moveTo>
                    <a:lnTo>
                      <a:pt x="982621" y="0"/>
                    </a:lnTo>
                    <a:cubicBezTo>
                      <a:pt x="997707" y="0"/>
                      <a:pt x="1009937" y="12230"/>
                      <a:pt x="1009937" y="27315"/>
                    </a:cubicBezTo>
                    <a:lnTo>
                      <a:pt x="1009937" y="785485"/>
                    </a:lnTo>
                    <a:cubicBezTo>
                      <a:pt x="1009937" y="800571"/>
                      <a:pt x="997707" y="812800"/>
                      <a:pt x="982621" y="812800"/>
                    </a:cubicBezTo>
                    <a:lnTo>
                      <a:pt x="27315" y="812800"/>
                    </a:lnTo>
                    <a:cubicBezTo>
                      <a:pt x="12230" y="812800"/>
                      <a:pt x="0" y="800571"/>
                      <a:pt x="0" y="785485"/>
                    </a:cubicBezTo>
                    <a:lnTo>
                      <a:pt x="0" y="27315"/>
                    </a:lnTo>
                    <a:cubicBezTo>
                      <a:pt x="0" y="12230"/>
                      <a:pt x="12230" y="0"/>
                      <a:pt x="27315" y="0"/>
                    </a:cubicBezTo>
                    <a:close/>
                  </a:path>
                </a:pathLst>
              </a:custGeom>
              <a:solidFill>
                <a:srgbClr val="EADADE"/>
              </a:solidFill>
              <a:ln w="12700">
                <a:solidFill>
                  <a:srgbClr val="000000"/>
                </a:solidFill>
              </a:ln>
            </p:spPr>
            <p:txBody>
              <a:bodyPr/>
              <a:lstStyle/>
              <a:p>
                <a:endParaRPr lang="en-IN"/>
              </a:p>
            </p:txBody>
          </p:sp>
        </p:grpSp>
        <p:grpSp>
          <p:nvGrpSpPr>
            <p:cNvPr id="5" name="Group 5"/>
            <p:cNvGrpSpPr/>
            <p:nvPr/>
          </p:nvGrpSpPr>
          <p:grpSpPr>
            <a:xfrm>
              <a:off x="0" y="0"/>
              <a:ext cx="8691767" cy="6995160"/>
              <a:chOff x="0" y="0"/>
              <a:chExt cx="1009937" cy="812800"/>
            </a:xfrm>
          </p:grpSpPr>
          <p:sp>
            <p:nvSpPr>
              <p:cNvPr id="6" name="Freeform 6"/>
              <p:cNvSpPr/>
              <p:nvPr/>
            </p:nvSpPr>
            <p:spPr>
              <a:xfrm>
                <a:off x="0" y="0"/>
                <a:ext cx="1009937" cy="812800"/>
              </a:xfrm>
              <a:custGeom>
                <a:avLst/>
                <a:gdLst/>
                <a:ahLst/>
                <a:cxnLst/>
                <a:rect l="l" t="t" r="r" b="b"/>
                <a:pathLst>
                  <a:path w="1009937" h="812800">
                    <a:moveTo>
                      <a:pt x="27315" y="0"/>
                    </a:moveTo>
                    <a:lnTo>
                      <a:pt x="982621" y="0"/>
                    </a:lnTo>
                    <a:cubicBezTo>
                      <a:pt x="997707" y="0"/>
                      <a:pt x="1009937" y="12230"/>
                      <a:pt x="1009937" y="27315"/>
                    </a:cubicBezTo>
                    <a:lnTo>
                      <a:pt x="1009937" y="785485"/>
                    </a:lnTo>
                    <a:cubicBezTo>
                      <a:pt x="1009937" y="800571"/>
                      <a:pt x="997707" y="812800"/>
                      <a:pt x="982621" y="812800"/>
                    </a:cubicBezTo>
                    <a:lnTo>
                      <a:pt x="27315" y="812800"/>
                    </a:lnTo>
                    <a:cubicBezTo>
                      <a:pt x="12230" y="812800"/>
                      <a:pt x="0" y="800571"/>
                      <a:pt x="0" y="785485"/>
                    </a:cubicBezTo>
                    <a:lnTo>
                      <a:pt x="0" y="27315"/>
                    </a:lnTo>
                    <a:cubicBezTo>
                      <a:pt x="0" y="12230"/>
                      <a:pt x="12230" y="0"/>
                      <a:pt x="27315" y="0"/>
                    </a:cubicBezTo>
                    <a:close/>
                  </a:path>
                </a:pathLst>
              </a:custGeom>
              <a:blipFill>
                <a:blip r:embed="rId2"/>
                <a:stretch>
                  <a:fillRect l="-31149" t="-14024" r="-6587"/>
                </a:stretch>
              </a:blipFill>
            </p:spPr>
            <p:txBody>
              <a:bodyPr/>
              <a:lstStyle/>
              <a:p>
                <a:endParaRPr lang="en-IN"/>
              </a:p>
            </p:txBody>
          </p:sp>
        </p:grpSp>
      </p:grpSp>
      <p:grpSp>
        <p:nvGrpSpPr>
          <p:cNvPr id="7" name="Group 7"/>
          <p:cNvGrpSpPr/>
          <p:nvPr/>
        </p:nvGrpSpPr>
        <p:grpSpPr>
          <a:xfrm rot="-10800000">
            <a:off x="-41583" y="8728940"/>
            <a:ext cx="18440400" cy="1569660"/>
            <a:chOff x="0" y="0"/>
            <a:chExt cx="30417241" cy="4659653"/>
          </a:xfrm>
        </p:grpSpPr>
        <p:sp>
          <p:nvSpPr>
            <p:cNvPr id="8" name="Freeform 8"/>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Freeform 10"/>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grpSp>
        <p:nvGrpSpPr>
          <p:cNvPr id="11" name="Group 11"/>
          <p:cNvGrpSpPr/>
          <p:nvPr/>
        </p:nvGrpSpPr>
        <p:grpSpPr>
          <a:xfrm>
            <a:off x="-139908" y="-876300"/>
            <a:ext cx="18440400" cy="1021363"/>
            <a:chOff x="0" y="0"/>
            <a:chExt cx="30417241" cy="4659653"/>
          </a:xfrm>
        </p:grpSpPr>
        <p:sp>
          <p:nvSpPr>
            <p:cNvPr id="12" name="Freeform 12"/>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3" name="Freeform 13"/>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Freeform 14"/>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sp>
        <p:nvSpPr>
          <p:cNvPr id="15" name="TextBox 15"/>
          <p:cNvSpPr txBox="1"/>
          <p:nvPr/>
        </p:nvSpPr>
        <p:spPr>
          <a:xfrm>
            <a:off x="5435432" y="-112154"/>
            <a:ext cx="5785769" cy="1171924"/>
          </a:xfrm>
          <a:prstGeom prst="rect">
            <a:avLst/>
          </a:prstGeom>
        </p:spPr>
        <p:txBody>
          <a:bodyPr lIns="0" tIns="0" rIns="0" bIns="0" rtlCol="0" anchor="t">
            <a:spAutoFit/>
          </a:bodyPr>
          <a:lstStyle/>
          <a:p>
            <a:pPr algn="ctr">
              <a:lnSpc>
                <a:spcPts val="10500"/>
              </a:lnSpc>
            </a:pPr>
            <a:r>
              <a:rPr lang="en-US" sz="5400" b="1" u="sng" dirty="0">
                <a:solidFill>
                  <a:srgbClr val="7688C1"/>
                </a:solidFill>
                <a:latin typeface="Oswald Bold"/>
                <a:ea typeface="Oswald Bold"/>
                <a:cs typeface="Oswald Bold"/>
                <a:sym typeface="Oswald Bold"/>
              </a:rPr>
              <a:t>Conclusion</a:t>
            </a:r>
          </a:p>
        </p:txBody>
      </p:sp>
      <p:sp>
        <p:nvSpPr>
          <p:cNvPr id="18" name="TextBox 17">
            <a:extLst>
              <a:ext uri="{FF2B5EF4-FFF2-40B4-BE49-F238E27FC236}">
                <a16:creationId xmlns:a16="http://schemas.microsoft.com/office/drawing/2014/main" id="{0D19CADC-8748-C426-9AD1-EF4551194465}"/>
              </a:ext>
            </a:extLst>
          </p:cNvPr>
          <p:cNvSpPr txBox="1"/>
          <p:nvPr/>
        </p:nvSpPr>
        <p:spPr>
          <a:xfrm>
            <a:off x="6338757" y="1754150"/>
            <a:ext cx="10851392" cy="1384995"/>
          </a:xfrm>
          <a:prstGeom prst="rect">
            <a:avLst/>
          </a:prstGeom>
          <a:noFill/>
        </p:spPr>
        <p:txBody>
          <a:bodyPr wrap="square">
            <a:spAutoFit/>
          </a:bodyPr>
          <a:lstStyle/>
          <a:p>
            <a:pPr marL="285750" indent="-285750">
              <a:buFont typeface="Wingdings" panose="05000000000000000000" pitchFamily="2" charset="2"/>
              <a:buChar char="Ø"/>
            </a:pPr>
            <a:r>
              <a:rPr lang="en-US" sz="2400" dirty="0"/>
              <a:t> </a:t>
            </a:r>
            <a:r>
              <a:rPr lang="en-US" sz="2800" dirty="0"/>
              <a:t>This analysis of Kickstarter project data, using tools like Excel, SQL, Power BI, and Tableau, offers a detailed understanding of the key factors that influence project success.</a:t>
            </a:r>
            <a:endParaRPr lang="en-IN" sz="2800" dirty="0"/>
          </a:p>
        </p:txBody>
      </p:sp>
      <p:sp>
        <p:nvSpPr>
          <p:cNvPr id="20" name="TextBox 19">
            <a:extLst>
              <a:ext uri="{FF2B5EF4-FFF2-40B4-BE49-F238E27FC236}">
                <a16:creationId xmlns:a16="http://schemas.microsoft.com/office/drawing/2014/main" id="{9BBC4900-0D35-E5E6-F7C5-DF649C6E9EBA}"/>
              </a:ext>
            </a:extLst>
          </p:cNvPr>
          <p:cNvSpPr txBox="1"/>
          <p:nvPr/>
        </p:nvSpPr>
        <p:spPr>
          <a:xfrm>
            <a:off x="6371414" y="3264139"/>
            <a:ext cx="11408228" cy="2246769"/>
          </a:xfrm>
          <a:prstGeom prst="rect">
            <a:avLst/>
          </a:prstGeom>
          <a:noFill/>
        </p:spPr>
        <p:txBody>
          <a:bodyPr wrap="square">
            <a:spAutoFit/>
          </a:bodyPr>
          <a:lstStyle/>
          <a:p>
            <a:pPr marL="285750" indent="-285750">
              <a:buFont typeface="Wingdings" panose="05000000000000000000" pitchFamily="2" charset="2"/>
              <a:buChar char="Ø"/>
            </a:pPr>
            <a:r>
              <a:rPr lang="en-US" sz="2400" dirty="0"/>
              <a:t> </a:t>
            </a:r>
            <a:r>
              <a:rPr lang="en-US" sz="2800" dirty="0"/>
              <a:t>SQL was used for data preparation and querying, while Excel supported detailed cleaning and initial statistical analysis. Power BI and Tableau added further value by providing interactive visualizations and dashboards that highlighted key trends, including funding performance, category-level success rates, and backer engagement.</a:t>
            </a:r>
            <a:endParaRPr lang="en-IN" sz="2800" dirty="0"/>
          </a:p>
        </p:txBody>
      </p:sp>
      <p:sp>
        <p:nvSpPr>
          <p:cNvPr id="22" name="TextBox 21">
            <a:extLst>
              <a:ext uri="{FF2B5EF4-FFF2-40B4-BE49-F238E27FC236}">
                <a16:creationId xmlns:a16="http://schemas.microsoft.com/office/drawing/2014/main" id="{C34CCFA9-C148-20A7-FFB0-ED427498289E}"/>
              </a:ext>
            </a:extLst>
          </p:cNvPr>
          <p:cNvSpPr txBox="1"/>
          <p:nvPr/>
        </p:nvSpPr>
        <p:spPr>
          <a:xfrm>
            <a:off x="6248696" y="5664679"/>
            <a:ext cx="11408228" cy="1384995"/>
          </a:xfrm>
          <a:prstGeom prst="rect">
            <a:avLst/>
          </a:prstGeom>
          <a:noFill/>
        </p:spPr>
        <p:txBody>
          <a:bodyPr wrap="square">
            <a:spAutoFit/>
          </a:bodyPr>
          <a:lstStyle/>
          <a:p>
            <a:pPr marL="285750" indent="-285750">
              <a:buFont typeface="Wingdings" panose="05000000000000000000" pitchFamily="2" charset="2"/>
              <a:buChar char="Ø"/>
            </a:pPr>
            <a:r>
              <a:rPr lang="en-US" sz="2400" dirty="0"/>
              <a:t> </a:t>
            </a:r>
            <a:r>
              <a:rPr lang="en-US" sz="2800" dirty="0"/>
              <a:t>The study showed that projects with moderate funding goals, shorter campaign durations, and compelling descriptions are more likely to succeed.</a:t>
            </a:r>
            <a:endParaRPr lang="en-IN" sz="2800" dirty="0"/>
          </a:p>
        </p:txBody>
      </p:sp>
      <p:sp>
        <p:nvSpPr>
          <p:cNvPr id="24" name="TextBox 23">
            <a:extLst>
              <a:ext uri="{FF2B5EF4-FFF2-40B4-BE49-F238E27FC236}">
                <a16:creationId xmlns:a16="http://schemas.microsoft.com/office/drawing/2014/main" id="{BEC3EE01-BCE3-7D13-21AF-47F1305F1C19}"/>
              </a:ext>
            </a:extLst>
          </p:cNvPr>
          <p:cNvSpPr txBox="1"/>
          <p:nvPr/>
        </p:nvSpPr>
        <p:spPr>
          <a:xfrm>
            <a:off x="6248696" y="7049674"/>
            <a:ext cx="11408228" cy="1815882"/>
          </a:xfrm>
          <a:prstGeom prst="rect">
            <a:avLst/>
          </a:prstGeom>
          <a:noFill/>
        </p:spPr>
        <p:txBody>
          <a:bodyPr wrap="square">
            <a:spAutoFit/>
          </a:bodyPr>
          <a:lstStyle/>
          <a:p>
            <a:pPr marL="285750" indent="-285750">
              <a:buFont typeface="Wingdings" panose="05000000000000000000" pitchFamily="2" charset="2"/>
              <a:buChar char="Ø"/>
            </a:pPr>
            <a:r>
              <a:rPr lang="en-US" sz="2800" dirty="0"/>
              <a:t> Overall, the project showed that data-driven decision-making can improve crowdfunding outcomes and highlighted Kickstarter’s role in supporting innovation, creativity, and community through a transparent and accessible funding platform.</a:t>
            </a:r>
            <a:endParaRPr lang="en-IN" sz="2800" dirty="0"/>
          </a:p>
        </p:txBody>
      </p:sp>
      <p:pic>
        <p:nvPicPr>
          <p:cNvPr id="1026" name="Picture 2" descr="Conclusion Vectors - Download Free High ...">
            <a:extLst>
              <a:ext uri="{FF2B5EF4-FFF2-40B4-BE49-F238E27FC236}">
                <a16:creationId xmlns:a16="http://schemas.microsoft.com/office/drawing/2014/main" id="{8CD972E5-65A0-301B-4B24-A904F54BBA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3369" y="-315767"/>
            <a:ext cx="2819400" cy="1836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DF8"/>
        </a:solidFill>
        <a:effectLst/>
      </p:bgPr>
    </p:bg>
    <p:spTree>
      <p:nvGrpSpPr>
        <p:cNvPr id="1" name=""/>
        <p:cNvGrpSpPr/>
        <p:nvPr/>
      </p:nvGrpSpPr>
      <p:grpSpPr>
        <a:xfrm>
          <a:off x="0" y="0"/>
          <a:ext cx="0" cy="0"/>
          <a:chOff x="0" y="0"/>
          <a:chExt cx="0" cy="0"/>
        </a:xfrm>
      </p:grpSpPr>
      <p:sp>
        <p:nvSpPr>
          <p:cNvPr id="4" name="TextBox 4"/>
          <p:cNvSpPr txBox="1"/>
          <p:nvPr/>
        </p:nvSpPr>
        <p:spPr>
          <a:xfrm>
            <a:off x="10182893" y="7345597"/>
            <a:ext cx="6931868" cy="725968"/>
          </a:xfrm>
          <a:prstGeom prst="rect">
            <a:avLst/>
          </a:prstGeom>
        </p:spPr>
        <p:txBody>
          <a:bodyPr lIns="0" tIns="0" rIns="0" bIns="0" rtlCol="0" anchor="t">
            <a:spAutoFit/>
          </a:bodyPr>
          <a:lstStyle/>
          <a:p>
            <a:pPr algn="ctr">
              <a:lnSpc>
                <a:spcPts val="6299"/>
              </a:lnSpc>
            </a:pPr>
            <a:r>
              <a:rPr lang="en-US" sz="4000" dirty="0">
                <a:solidFill>
                  <a:srgbClr val="000000"/>
                </a:solidFill>
                <a:latin typeface="Oswald"/>
                <a:ea typeface="Oswald"/>
                <a:cs typeface="Oswald"/>
                <a:sym typeface="Oswald"/>
              </a:rPr>
              <a:t>Presentation by the  Group -5</a:t>
            </a:r>
          </a:p>
        </p:txBody>
      </p:sp>
      <p:grpSp>
        <p:nvGrpSpPr>
          <p:cNvPr id="6" name="Group 6"/>
          <p:cNvGrpSpPr/>
          <p:nvPr/>
        </p:nvGrpSpPr>
        <p:grpSpPr>
          <a:xfrm rot="-10800000">
            <a:off x="0" y="9182098"/>
            <a:ext cx="18364200" cy="1399789"/>
            <a:chOff x="-1" y="0"/>
            <a:chExt cx="30417242" cy="4659653"/>
          </a:xfrm>
        </p:grpSpPr>
        <p:sp>
          <p:nvSpPr>
            <p:cNvPr id="7" name="Freeform 7"/>
            <p:cNvSpPr/>
            <p:nvPr/>
          </p:nvSpPr>
          <p:spPr>
            <a:xfrm>
              <a:off x="-1"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pic>
        <p:nvPicPr>
          <p:cNvPr id="6146" name="Picture 2" descr="What is teamwork?">
            <a:extLst>
              <a:ext uri="{FF2B5EF4-FFF2-40B4-BE49-F238E27FC236}">
                <a16:creationId xmlns:a16="http://schemas.microsoft.com/office/drawing/2014/main" id="{A50629D1-1EB4-71C9-F53B-2FFAC978DC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6515100"/>
            <a:ext cx="3918908" cy="23869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d Wallpaper - Background Thank You ...">
            <a:extLst>
              <a:ext uri="{FF2B5EF4-FFF2-40B4-BE49-F238E27FC236}">
                <a16:creationId xmlns:a16="http://schemas.microsoft.com/office/drawing/2014/main" id="{31FA7C9B-FA65-6A56-977F-2935CCF80E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2308" y="558332"/>
            <a:ext cx="9965384" cy="54443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TotalTime>
  <Words>789</Words>
  <Application>Microsoft Office PowerPoint</Application>
  <PresentationFormat>Custom</PresentationFormat>
  <Paragraphs>67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Wingdings</vt:lpstr>
      <vt:lpstr>Oswald Bold</vt:lpstr>
      <vt:lpstr>Oswald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Office</cp:lastModifiedBy>
  <cp:revision>58</cp:revision>
  <dcterms:created xsi:type="dcterms:W3CDTF">2006-08-16T00:00:00Z</dcterms:created>
  <dcterms:modified xsi:type="dcterms:W3CDTF">2025-12-04T08:10:51Z</dcterms:modified>
  <dc:identifier>DAG6ecbt1W8</dc:identifier>
</cp:coreProperties>
</file>